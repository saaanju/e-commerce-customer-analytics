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9" r:id="rId9"/>
    <p:sldId id="261" r:id="rId10"/>
    <p:sldId id="266" r:id="rId11"/>
    <p:sldId id="267" r:id="rId12"/>
    <p:sldId id="268"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EA9"/>
    <a:srgbClr val="FFF6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4" d="100"/>
          <a:sy n="84" d="100"/>
        </p:scale>
        <p:origin x="629" y="96"/>
      </p:cViewPr>
      <p:guideLst>
        <p:guide orient="horz" pos="2160"/>
        <p:guide pos="28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943" y="1143000"/>
            <a:ext cx="5486114"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960120" y="662305"/>
            <a:ext cx="9875520" cy="655955"/>
          </a:xfrm>
          <a:prstGeom prst="rect">
            <a:avLst/>
          </a:prstGeom>
          <a:noFill/>
        </p:spPr>
        <p:txBody>
          <a:bodyPr wrap="square">
            <a:noAutofit/>
          </a:bodyPr>
          <a:lstStyle/>
          <a:p>
            <a:pPr algn="l">
              <a:defRPr sz="3600" b="1">
                <a:solidFill>
                  <a:srgbClr val="FFFFFF"/>
                </a:solidFill>
              </a:defRPr>
            </a:pPr>
            <a:r>
              <a:rPr>
                <a:solidFill>
                  <a:schemeClr val="tx1"/>
                </a:solidFill>
              </a:rPr>
              <a:t>E-commerce Customer Analytics</a:t>
            </a:r>
            <a:endParaRPr>
              <a:solidFill>
                <a:schemeClr val="tx1"/>
              </a:solidFill>
            </a:endParaRPr>
          </a:p>
        </p:txBody>
      </p:sp>
      <p:sp>
        <p:nvSpPr>
          <p:cNvPr id="7" name="TextBox 6"/>
          <p:cNvSpPr txBox="1"/>
          <p:nvPr/>
        </p:nvSpPr>
        <p:spPr>
          <a:xfrm>
            <a:off x="987425" y="1889125"/>
            <a:ext cx="8686800" cy="388620"/>
          </a:xfrm>
          <a:prstGeom prst="rect">
            <a:avLst/>
          </a:prstGeom>
          <a:noFill/>
        </p:spPr>
        <p:txBody>
          <a:bodyPr wrap="square">
            <a:noAutofit/>
          </a:bodyPr>
          <a:lstStyle/>
          <a:p>
            <a:pPr algn="l">
              <a:defRPr sz="2000" b="0">
                <a:solidFill>
                  <a:srgbClr val="FFD248"/>
                </a:solidFill>
              </a:defRPr>
            </a:pPr>
            <a:r>
              <a:rPr>
                <a:solidFill>
                  <a:schemeClr val="tx1"/>
                </a:solidFill>
              </a:rPr>
              <a:t>Sales, Customer, Product &amp; Marketing Performance Analysis</a:t>
            </a:r>
            <a:endParaRPr>
              <a:solidFill>
                <a:schemeClr val="tx1"/>
              </a:solidFill>
            </a:endParaRPr>
          </a:p>
        </p:txBody>
      </p:sp>
      <p:sp>
        <p:nvSpPr>
          <p:cNvPr id="8" name="TextBox 7"/>
          <p:cNvSpPr txBox="1"/>
          <p:nvPr/>
        </p:nvSpPr>
        <p:spPr>
          <a:xfrm>
            <a:off x="987425" y="2491105"/>
            <a:ext cx="7132320" cy="467360"/>
          </a:xfrm>
          <a:prstGeom prst="rect">
            <a:avLst/>
          </a:prstGeom>
          <a:noFill/>
        </p:spPr>
        <p:txBody>
          <a:bodyPr wrap="square">
            <a:noAutofit/>
          </a:bodyPr>
          <a:lstStyle/>
          <a:p>
            <a:pPr algn="l">
              <a:defRPr sz="1800" b="0">
                <a:solidFill>
                  <a:srgbClr val="D7DEE9"/>
                </a:solidFill>
              </a:defRPr>
            </a:pPr>
            <a:r>
              <a:rPr>
                <a:solidFill>
                  <a:schemeClr val="tx1"/>
                </a:solidFill>
              </a:rPr>
              <a:t>A Power BI based data analytics project using an e-commerce sales dataset.</a:t>
            </a:r>
            <a:endParaRPr>
              <a:solidFill>
                <a:schemeClr val="tx1"/>
              </a:solidFill>
            </a:endParaRPr>
          </a:p>
        </p:txBody>
      </p:sp>
      <p:sp>
        <p:nvSpPr>
          <p:cNvPr id="9" name="Rounded Rectangle 8"/>
          <p:cNvSpPr/>
          <p:nvPr/>
        </p:nvSpPr>
        <p:spPr>
          <a:xfrm>
            <a:off x="1033145" y="3314065"/>
            <a:ext cx="2743200" cy="914400"/>
          </a:xfrm>
          <a:prstGeom prst="roundRect">
            <a:avLst/>
          </a:prstGeom>
          <a:solidFill>
            <a:srgbClr val="FFFFFF"/>
          </a:solidFill>
          <a:ln w="12700" cmpd="sng">
            <a:solidFill>
              <a:schemeClr val="accent1">
                <a:shade val="50000"/>
              </a:scheme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11" name="TextBox 10"/>
          <p:cNvSpPr txBox="1"/>
          <p:nvPr/>
        </p:nvSpPr>
        <p:spPr>
          <a:xfrm>
            <a:off x="1215898" y="3429127"/>
            <a:ext cx="2377440" cy="320040"/>
          </a:xfrm>
          <a:prstGeom prst="rect">
            <a:avLst/>
          </a:prstGeom>
          <a:noFill/>
        </p:spPr>
        <p:txBody>
          <a:bodyPr wrap="square">
            <a:spAutoFit/>
          </a:bodyPr>
          <a:lstStyle/>
          <a:p>
            <a:pPr algn="l">
              <a:defRPr sz="1200" b="1">
                <a:solidFill>
                  <a:srgbClr val="697484"/>
                </a:solidFill>
              </a:defRPr>
            </a:pPr>
            <a:r>
              <a:rPr>
                <a:solidFill>
                  <a:schemeClr val="tx1"/>
                </a:solidFill>
              </a:rPr>
              <a:t>TOOL</a:t>
            </a:r>
            <a:endParaRPr>
              <a:solidFill>
                <a:schemeClr val="tx1"/>
              </a:solidFill>
            </a:endParaRPr>
          </a:p>
        </p:txBody>
      </p:sp>
      <p:sp>
        <p:nvSpPr>
          <p:cNvPr id="12" name="TextBox 11"/>
          <p:cNvSpPr txBox="1"/>
          <p:nvPr/>
        </p:nvSpPr>
        <p:spPr>
          <a:xfrm>
            <a:off x="1215898" y="3633978"/>
            <a:ext cx="2377440" cy="502920"/>
          </a:xfrm>
          <a:prstGeom prst="rect">
            <a:avLst/>
          </a:prstGeom>
          <a:noFill/>
        </p:spPr>
        <p:txBody>
          <a:bodyPr wrap="square">
            <a:spAutoFit/>
          </a:bodyPr>
          <a:lstStyle/>
          <a:p>
            <a:pPr algn="l">
              <a:defRPr sz="2500" b="1">
                <a:solidFill>
                  <a:srgbClr val="162239"/>
                </a:solidFill>
              </a:defRPr>
            </a:pPr>
            <a:r>
              <a:rPr>
                <a:solidFill>
                  <a:schemeClr val="tx1"/>
                </a:solidFill>
              </a:rPr>
              <a:t>Power BI</a:t>
            </a:r>
            <a:endParaRPr>
              <a:solidFill>
                <a:schemeClr val="tx1"/>
              </a:solidFill>
            </a:endParaRPr>
          </a:p>
        </p:txBody>
      </p:sp>
      <p:sp>
        <p:nvSpPr>
          <p:cNvPr id="13" name="Rounded Rectangle 12"/>
          <p:cNvSpPr/>
          <p:nvPr/>
        </p:nvSpPr>
        <p:spPr>
          <a:xfrm>
            <a:off x="2603500" y="4657725"/>
            <a:ext cx="2743200" cy="914400"/>
          </a:xfrm>
          <a:prstGeom prst="roundRect">
            <a:avLst/>
          </a:prstGeom>
          <a:solidFill>
            <a:srgbClr val="FFFFFF"/>
          </a:solidFill>
          <a:ln w="12700" cmpd="sng">
            <a:solidFill>
              <a:schemeClr val="accent1">
                <a:shade val="50000"/>
              </a:scheme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15" name="TextBox 14"/>
          <p:cNvSpPr txBox="1"/>
          <p:nvPr/>
        </p:nvSpPr>
        <p:spPr>
          <a:xfrm>
            <a:off x="2786253" y="4795012"/>
            <a:ext cx="2377440" cy="320040"/>
          </a:xfrm>
          <a:prstGeom prst="rect">
            <a:avLst/>
          </a:prstGeom>
          <a:noFill/>
        </p:spPr>
        <p:txBody>
          <a:bodyPr wrap="square">
            <a:spAutoFit/>
          </a:bodyPr>
          <a:lstStyle/>
          <a:p>
            <a:pPr algn="l">
              <a:defRPr sz="1200" b="1">
                <a:solidFill>
                  <a:srgbClr val="697484"/>
                </a:solidFill>
              </a:defRPr>
            </a:pPr>
            <a:r>
              <a:rPr>
                <a:solidFill>
                  <a:schemeClr val="tx1"/>
                </a:solidFill>
              </a:rPr>
              <a:t>PROJECT TYPE</a:t>
            </a:r>
            <a:endParaRPr>
              <a:solidFill>
                <a:schemeClr val="tx1"/>
              </a:solidFill>
            </a:endParaRPr>
          </a:p>
        </p:txBody>
      </p:sp>
      <p:sp>
        <p:nvSpPr>
          <p:cNvPr id="16" name="TextBox 15"/>
          <p:cNvSpPr txBox="1"/>
          <p:nvPr/>
        </p:nvSpPr>
        <p:spPr>
          <a:xfrm>
            <a:off x="2786253" y="5006848"/>
            <a:ext cx="2377440" cy="502920"/>
          </a:xfrm>
          <a:prstGeom prst="rect">
            <a:avLst/>
          </a:prstGeom>
          <a:noFill/>
        </p:spPr>
        <p:txBody>
          <a:bodyPr wrap="square">
            <a:spAutoFit/>
          </a:bodyPr>
          <a:lstStyle/>
          <a:p>
            <a:pPr algn="l">
              <a:defRPr sz="2500" b="1">
                <a:solidFill>
                  <a:srgbClr val="162239"/>
                </a:solidFill>
              </a:defRPr>
            </a:pPr>
            <a:r>
              <a:rPr>
                <a:solidFill>
                  <a:schemeClr val="tx1"/>
                </a:solidFill>
              </a:rPr>
              <a:t>Data Analytics</a:t>
            </a:r>
            <a:endParaRPr>
              <a:solidFill>
                <a:schemeClr val="tx1"/>
              </a:solidFill>
            </a:endParaRPr>
          </a:p>
        </p:txBody>
      </p:sp>
      <p:sp>
        <p:nvSpPr>
          <p:cNvPr id="17" name="Rounded Rectangle 16"/>
          <p:cNvSpPr/>
          <p:nvPr/>
        </p:nvSpPr>
        <p:spPr>
          <a:xfrm>
            <a:off x="4250690" y="3328035"/>
            <a:ext cx="2743200" cy="914400"/>
          </a:xfrm>
          <a:prstGeom prst="roundRect">
            <a:avLst/>
          </a:prstGeom>
          <a:solidFill>
            <a:srgbClr val="FFFFFF"/>
          </a:solidFill>
          <a:ln w="12700" cmpd="sng">
            <a:solidFill>
              <a:schemeClr val="accent1">
                <a:shade val="50000"/>
              </a:scheme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19" name="TextBox 18"/>
          <p:cNvSpPr txBox="1"/>
          <p:nvPr/>
        </p:nvSpPr>
        <p:spPr>
          <a:xfrm>
            <a:off x="4433443" y="3429127"/>
            <a:ext cx="2377440" cy="320040"/>
          </a:xfrm>
          <a:prstGeom prst="rect">
            <a:avLst/>
          </a:prstGeom>
          <a:noFill/>
        </p:spPr>
        <p:txBody>
          <a:bodyPr wrap="square">
            <a:spAutoFit/>
          </a:bodyPr>
          <a:lstStyle/>
          <a:p>
            <a:pPr algn="l">
              <a:defRPr sz="1200" b="1">
                <a:solidFill>
                  <a:srgbClr val="697484"/>
                </a:solidFill>
              </a:defRPr>
            </a:pPr>
            <a:r>
              <a:rPr>
                <a:solidFill>
                  <a:schemeClr val="tx1"/>
                </a:solidFill>
              </a:rPr>
              <a:t>DASHBOARD</a:t>
            </a:r>
            <a:endParaRPr>
              <a:solidFill>
                <a:schemeClr val="tx1"/>
              </a:solidFill>
            </a:endParaRPr>
          </a:p>
        </p:txBody>
      </p:sp>
      <p:sp>
        <p:nvSpPr>
          <p:cNvPr id="20" name="TextBox 19"/>
          <p:cNvSpPr txBox="1"/>
          <p:nvPr/>
        </p:nvSpPr>
        <p:spPr>
          <a:xfrm>
            <a:off x="4433443" y="3633978"/>
            <a:ext cx="2377440" cy="502920"/>
          </a:xfrm>
          <a:prstGeom prst="rect">
            <a:avLst/>
          </a:prstGeom>
          <a:noFill/>
        </p:spPr>
        <p:txBody>
          <a:bodyPr wrap="square">
            <a:spAutoFit/>
          </a:bodyPr>
          <a:lstStyle/>
          <a:p>
            <a:pPr algn="l">
              <a:defRPr sz="2500" b="1">
                <a:solidFill>
                  <a:srgbClr val="162239"/>
                </a:solidFill>
              </a:defRPr>
            </a:pPr>
            <a:r>
              <a:rPr>
                <a:solidFill>
                  <a:schemeClr val="tx1"/>
                </a:solidFill>
              </a:rPr>
              <a:t>Interactive</a:t>
            </a:r>
            <a:endParaRPr>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ounded Rectangle 35"/>
          <p:cNvSpPr/>
          <p:nvPr/>
        </p:nvSpPr>
        <p:spPr>
          <a:xfrm>
            <a:off x="1047750" y="1632585"/>
            <a:ext cx="4817110" cy="4173855"/>
          </a:xfrm>
          <a:prstGeom prst="roundRect">
            <a:avLst/>
          </a:prstGeom>
          <a:solidFill>
            <a:schemeClr val="bg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7750" y="735330"/>
            <a:ext cx="4055110" cy="506730"/>
          </a:xfrm>
          <a:prstGeom prst="rect">
            <a:avLst/>
          </a:prstGeom>
          <a:noFill/>
        </p:spPr>
        <p:txBody>
          <a:bodyPr wrap="none">
            <a:noAutofit/>
          </a:bodyPr>
          <a:lstStyle/>
          <a:p>
            <a:pPr>
              <a:defRPr sz="2500" b="1">
                <a:solidFill>
                  <a:srgbClr val="FFFFFF"/>
                </a:solidFill>
              </a:defRPr>
            </a:pPr>
            <a:r>
              <a:rPr sz="2800">
                <a:solidFill>
                  <a:schemeClr val="tx2">
                    <a:lumMod val="50000"/>
                  </a:schemeClr>
                </a:solidFill>
              </a:rPr>
              <a:t>1. Project Overview</a:t>
            </a:r>
            <a:endParaRPr sz="2800">
              <a:solidFill>
                <a:schemeClr val="tx2">
                  <a:lumMod val="50000"/>
                </a:schemeClr>
              </a:solidFill>
            </a:endParaRPr>
          </a:p>
        </p:txBody>
      </p:sp>
      <p:sp>
        <p:nvSpPr>
          <p:cNvPr id="6" name="TextBox 5"/>
          <p:cNvSpPr txBox="1"/>
          <p:nvPr/>
        </p:nvSpPr>
        <p:spPr>
          <a:xfrm>
            <a:off x="1582420" y="1821180"/>
            <a:ext cx="3747135" cy="460375"/>
          </a:xfrm>
          <a:prstGeom prst="rect">
            <a:avLst/>
          </a:prstGeom>
          <a:noFill/>
        </p:spPr>
        <p:txBody>
          <a:bodyPr wrap="square">
            <a:spAutoFit/>
          </a:bodyPr>
          <a:lstStyle/>
          <a:p>
            <a:pPr algn="l">
              <a:defRPr sz="2400" b="1">
                <a:solidFill>
                  <a:srgbClr val="162239"/>
                </a:solidFill>
              </a:defRPr>
            </a:pPr>
            <a:r>
              <a:t>Why this project?</a:t>
            </a:r>
          </a:p>
        </p:txBody>
      </p:sp>
      <p:sp>
        <p:nvSpPr>
          <p:cNvPr id="7" name="TextBox 6"/>
          <p:cNvSpPr txBox="1"/>
          <p:nvPr/>
        </p:nvSpPr>
        <p:spPr>
          <a:xfrm>
            <a:off x="1219835" y="2353310"/>
            <a:ext cx="4472940" cy="3016885"/>
          </a:xfrm>
          <a:prstGeom prst="rect">
            <a:avLst/>
          </a:prstGeom>
          <a:noFill/>
        </p:spPr>
        <p:txBody>
          <a:bodyPr wrap="square">
            <a:noAutofit/>
          </a:bodyPr>
          <a:lstStyle/>
          <a:p>
            <a:pPr>
              <a:spcAft>
                <a:spcPts val="1000"/>
              </a:spcAft>
              <a:defRPr sz="1700">
                <a:solidFill>
                  <a:srgbClr val="202833"/>
                </a:solidFill>
              </a:defRPr>
            </a:pPr>
            <a:r>
              <a:rPr sz="1600" dirty="0"/>
              <a:t>• E-commerce businesses generate large volumes of customer, product and transaction data.</a:t>
            </a:r>
            <a:endParaRPr sz="1600" dirty="0"/>
          </a:p>
          <a:p>
            <a:pPr>
              <a:spcAft>
                <a:spcPts val="1000"/>
              </a:spcAft>
              <a:defRPr sz="1700">
                <a:solidFill>
                  <a:srgbClr val="202833"/>
                </a:solidFill>
              </a:defRPr>
            </a:pPr>
            <a:r>
              <a:rPr sz="1600" dirty="0"/>
              <a:t>• Analytics helps convert this data into useful information for monitoring sales and customer </a:t>
            </a:r>
            <a:r>
              <a:rPr sz="1600" dirty="0" err="1"/>
              <a:t>behaviour</a:t>
            </a:r>
            <a:r>
              <a:rPr sz="1600" dirty="0"/>
              <a:t>.</a:t>
            </a:r>
            <a:endParaRPr sz="1600" dirty="0"/>
          </a:p>
          <a:p>
            <a:pPr>
              <a:spcAft>
                <a:spcPts val="1000"/>
              </a:spcAft>
              <a:defRPr sz="1700">
                <a:solidFill>
                  <a:srgbClr val="202833"/>
                </a:solidFill>
              </a:defRPr>
            </a:pPr>
            <a:r>
              <a:rPr sz="1600" dirty="0"/>
              <a:t>• The project uses Power BI to organize the data into an interactive dashboard.</a:t>
            </a:r>
            <a:endParaRPr sz="1600" dirty="0"/>
          </a:p>
          <a:p>
            <a:pPr>
              <a:spcAft>
                <a:spcPts val="1000"/>
              </a:spcAft>
              <a:defRPr sz="1700">
                <a:solidFill>
                  <a:srgbClr val="202833"/>
                </a:solidFill>
              </a:defRPr>
            </a:pPr>
            <a:r>
              <a:rPr sz="1600" dirty="0"/>
              <a:t>• The dashboard allows performance to be explored by product category, country, date, payment method and traffic source.</a:t>
            </a:r>
            <a:endParaRPr sz="1600" dirty="0"/>
          </a:p>
        </p:txBody>
      </p:sp>
      <p:sp>
        <p:nvSpPr>
          <p:cNvPr id="8" name="Rounded Rectangle 7"/>
          <p:cNvSpPr/>
          <p:nvPr/>
        </p:nvSpPr>
        <p:spPr>
          <a:xfrm>
            <a:off x="6400800" y="1234440"/>
            <a:ext cx="2286000" cy="1417320"/>
          </a:xfrm>
          <a:prstGeom prst="roundRect">
            <a:avLst/>
          </a:prstGeom>
          <a:solidFill>
            <a:schemeClr val="tx2">
              <a:lumMod val="20000"/>
              <a:lumOff val="80000"/>
              <a:alpha val="70000"/>
            </a:schemeClr>
          </a:solidFill>
          <a:ln w="12700" cmpd="sng">
            <a:solidFill>
              <a:schemeClr val="accent1">
                <a:shade val="50000"/>
              </a:scheme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575943"/>
            <a:ext cx="1920240" cy="502920"/>
          </a:xfrm>
          <a:prstGeom prst="rect">
            <a:avLst/>
          </a:prstGeom>
          <a:noFill/>
        </p:spPr>
        <p:txBody>
          <a:bodyPr wrap="square">
            <a:spAutoFit/>
          </a:bodyPr>
          <a:lstStyle/>
          <a:p>
            <a:pPr algn="l">
              <a:defRPr sz="2500" b="1">
                <a:solidFill>
                  <a:srgbClr val="162239"/>
                </a:solidFill>
              </a:defRPr>
            </a:pPr>
            <a:r>
              <a:t>Sales</a:t>
            </a:r>
          </a:p>
        </p:txBody>
      </p:sp>
      <p:sp>
        <p:nvSpPr>
          <p:cNvPr id="12" name="TextBox 11"/>
          <p:cNvSpPr txBox="1"/>
          <p:nvPr/>
        </p:nvSpPr>
        <p:spPr>
          <a:xfrm>
            <a:off x="6601968" y="2078863"/>
            <a:ext cx="1920240" cy="274320"/>
          </a:xfrm>
          <a:prstGeom prst="rect">
            <a:avLst/>
          </a:prstGeom>
          <a:noFill/>
        </p:spPr>
        <p:txBody>
          <a:bodyPr wrap="square">
            <a:spAutoFit/>
          </a:bodyPr>
          <a:lstStyle/>
          <a:p>
            <a:pPr algn="l">
              <a:defRPr sz="1100" b="0">
                <a:solidFill>
                  <a:srgbClr val="697484"/>
                </a:solidFill>
              </a:defRPr>
            </a:pPr>
            <a:r>
              <a:rPr>
                <a:solidFill>
                  <a:schemeClr val="tx2">
                    <a:lumMod val="50000"/>
                  </a:schemeClr>
                </a:solidFill>
              </a:rPr>
              <a:t>Revenue, quantity and profit</a:t>
            </a:r>
            <a:endParaRPr>
              <a:solidFill>
                <a:schemeClr val="tx2">
                  <a:lumMod val="50000"/>
                </a:schemeClr>
              </a:solidFill>
            </a:endParaRPr>
          </a:p>
        </p:txBody>
      </p:sp>
      <p:sp>
        <p:nvSpPr>
          <p:cNvPr id="13" name="Rounded Rectangle 12"/>
          <p:cNvSpPr/>
          <p:nvPr/>
        </p:nvSpPr>
        <p:spPr>
          <a:xfrm>
            <a:off x="8961120" y="1234440"/>
            <a:ext cx="2286000" cy="1417320"/>
          </a:xfrm>
          <a:prstGeom prst="roundRect">
            <a:avLst/>
          </a:prstGeom>
          <a:solidFill>
            <a:schemeClr val="bg2">
              <a:lumMod val="90000"/>
              <a:alpha val="70000"/>
            </a:schemeClr>
          </a:solidFill>
          <a:ln>
            <a:solidFill>
              <a:schemeClr val="bg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593" y="1575943"/>
            <a:ext cx="1920240" cy="502920"/>
          </a:xfrm>
          <a:prstGeom prst="rect">
            <a:avLst/>
          </a:prstGeom>
          <a:noFill/>
        </p:spPr>
        <p:txBody>
          <a:bodyPr wrap="square">
            <a:spAutoFit/>
          </a:bodyPr>
          <a:lstStyle/>
          <a:p>
            <a:pPr algn="l">
              <a:defRPr sz="2500" b="1">
                <a:solidFill>
                  <a:srgbClr val="162239"/>
                </a:solidFill>
              </a:defRPr>
            </a:pPr>
            <a:r>
              <a:t>Customers</a:t>
            </a:r>
          </a:p>
        </p:txBody>
      </p:sp>
      <p:sp>
        <p:nvSpPr>
          <p:cNvPr id="17" name="TextBox 16"/>
          <p:cNvSpPr txBox="1"/>
          <p:nvPr/>
        </p:nvSpPr>
        <p:spPr>
          <a:xfrm>
            <a:off x="9189593" y="2078863"/>
            <a:ext cx="1920240" cy="274320"/>
          </a:xfrm>
          <a:prstGeom prst="rect">
            <a:avLst/>
          </a:prstGeom>
          <a:noFill/>
        </p:spPr>
        <p:txBody>
          <a:bodyPr wrap="square">
            <a:spAutoFit/>
          </a:bodyPr>
          <a:lstStyle/>
          <a:p>
            <a:pPr algn="l">
              <a:defRPr sz="1100" b="0">
                <a:solidFill>
                  <a:srgbClr val="697484"/>
                </a:solidFill>
              </a:defRPr>
            </a:pPr>
            <a:r>
              <a:rPr>
                <a:solidFill>
                  <a:schemeClr val="tx2">
                    <a:lumMod val="50000"/>
                  </a:schemeClr>
                </a:solidFill>
              </a:rPr>
              <a:t>Country and segments</a:t>
            </a:r>
            <a:endParaRPr>
              <a:solidFill>
                <a:schemeClr val="tx2">
                  <a:lumMod val="50000"/>
                </a:schemeClr>
              </a:solidFill>
            </a:endParaRPr>
          </a:p>
        </p:txBody>
      </p:sp>
      <p:sp>
        <p:nvSpPr>
          <p:cNvPr id="18" name="Rounded Rectangle 17"/>
          <p:cNvSpPr/>
          <p:nvPr/>
        </p:nvSpPr>
        <p:spPr>
          <a:xfrm>
            <a:off x="6400800" y="2971800"/>
            <a:ext cx="2286000" cy="1417320"/>
          </a:xfrm>
          <a:prstGeom prst="roundRect">
            <a:avLst/>
          </a:prstGeom>
          <a:solidFill>
            <a:schemeClr val="accent2">
              <a:lumMod val="20000"/>
              <a:lumOff val="80000"/>
              <a:alpha val="70000"/>
            </a:schemeClr>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1968" y="3270758"/>
            <a:ext cx="1920240" cy="502920"/>
          </a:xfrm>
          <a:prstGeom prst="rect">
            <a:avLst/>
          </a:prstGeom>
          <a:noFill/>
        </p:spPr>
        <p:txBody>
          <a:bodyPr wrap="square">
            <a:spAutoFit/>
          </a:bodyPr>
          <a:lstStyle/>
          <a:p>
            <a:pPr algn="l">
              <a:defRPr sz="2500" b="1">
                <a:solidFill>
                  <a:srgbClr val="162239"/>
                </a:solidFill>
              </a:defRPr>
            </a:pPr>
            <a:r>
              <a:t>Products</a:t>
            </a:r>
          </a:p>
        </p:txBody>
      </p:sp>
      <p:sp>
        <p:nvSpPr>
          <p:cNvPr id="22" name="TextBox 21"/>
          <p:cNvSpPr txBox="1"/>
          <p:nvPr/>
        </p:nvSpPr>
        <p:spPr>
          <a:xfrm>
            <a:off x="6601968" y="3773678"/>
            <a:ext cx="1920240" cy="274320"/>
          </a:xfrm>
          <a:prstGeom prst="rect">
            <a:avLst/>
          </a:prstGeom>
          <a:noFill/>
        </p:spPr>
        <p:txBody>
          <a:bodyPr wrap="square">
            <a:spAutoFit/>
          </a:bodyPr>
          <a:lstStyle/>
          <a:p>
            <a:pPr algn="l">
              <a:defRPr sz="1100" b="0">
                <a:solidFill>
                  <a:srgbClr val="697484"/>
                </a:solidFill>
              </a:defRPr>
            </a:pPr>
            <a:r>
              <a:rPr>
                <a:solidFill>
                  <a:schemeClr val="tx2">
                    <a:lumMod val="50000"/>
                  </a:schemeClr>
                </a:solidFill>
              </a:rPr>
              <a:t>Category performance</a:t>
            </a:r>
            <a:endParaRPr>
              <a:solidFill>
                <a:schemeClr val="tx2">
                  <a:lumMod val="50000"/>
                </a:schemeClr>
              </a:solidFill>
            </a:endParaRPr>
          </a:p>
        </p:txBody>
      </p:sp>
      <p:sp>
        <p:nvSpPr>
          <p:cNvPr id="23" name="Rounded Rectangle 22"/>
          <p:cNvSpPr/>
          <p:nvPr/>
        </p:nvSpPr>
        <p:spPr>
          <a:xfrm>
            <a:off x="8961120" y="2971800"/>
            <a:ext cx="2286000" cy="1417320"/>
          </a:xfrm>
          <a:prstGeom prst="roundRect">
            <a:avLst/>
          </a:prstGeom>
          <a:solidFill>
            <a:schemeClr val="accent3">
              <a:lumMod val="20000"/>
              <a:lumOff val="80000"/>
              <a:alpha val="70000"/>
            </a:schemeClr>
          </a:solidFill>
          <a:ln>
            <a:solidFill>
              <a:schemeClr val="accent3">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3270758"/>
            <a:ext cx="1920240" cy="502920"/>
          </a:xfrm>
          <a:prstGeom prst="rect">
            <a:avLst/>
          </a:prstGeom>
          <a:noFill/>
        </p:spPr>
        <p:txBody>
          <a:bodyPr wrap="square">
            <a:spAutoFit/>
          </a:bodyPr>
          <a:lstStyle/>
          <a:p>
            <a:pPr algn="l">
              <a:defRPr sz="2500" b="1">
                <a:solidFill>
                  <a:srgbClr val="162239"/>
                </a:solidFill>
              </a:defRPr>
            </a:pPr>
            <a:r>
              <a:t>Marketing</a:t>
            </a:r>
          </a:p>
        </p:txBody>
      </p:sp>
      <p:sp>
        <p:nvSpPr>
          <p:cNvPr id="27" name="TextBox 26"/>
          <p:cNvSpPr txBox="1"/>
          <p:nvPr/>
        </p:nvSpPr>
        <p:spPr>
          <a:xfrm>
            <a:off x="9189593" y="3773678"/>
            <a:ext cx="1920240" cy="274320"/>
          </a:xfrm>
          <a:prstGeom prst="rect">
            <a:avLst/>
          </a:prstGeom>
          <a:noFill/>
        </p:spPr>
        <p:txBody>
          <a:bodyPr wrap="square">
            <a:spAutoFit/>
          </a:bodyPr>
          <a:lstStyle/>
          <a:p>
            <a:pPr algn="l">
              <a:defRPr sz="1100" b="0">
                <a:solidFill>
                  <a:srgbClr val="697484"/>
                </a:solidFill>
              </a:defRPr>
            </a:pPr>
            <a:r>
              <a:rPr>
                <a:solidFill>
                  <a:schemeClr val="tx2">
                    <a:lumMod val="50000"/>
                  </a:schemeClr>
                </a:solidFill>
              </a:rPr>
              <a:t>Traffic sources</a:t>
            </a:r>
            <a:endParaRPr>
              <a:solidFill>
                <a:schemeClr val="tx2">
                  <a:lumMod val="50000"/>
                </a:schemeClr>
              </a:solidFill>
            </a:endParaRPr>
          </a:p>
        </p:txBody>
      </p:sp>
      <p:sp>
        <p:nvSpPr>
          <p:cNvPr id="28" name="Rounded Rectangle 27"/>
          <p:cNvSpPr/>
          <p:nvPr/>
        </p:nvSpPr>
        <p:spPr>
          <a:xfrm>
            <a:off x="6430010" y="4800600"/>
            <a:ext cx="4817110" cy="1005840"/>
          </a:xfrm>
          <a:prstGeom prst="roundRect">
            <a:avLst/>
          </a:prstGeom>
          <a:solidFill>
            <a:schemeClr val="bg1">
              <a:lumMod val="75000"/>
              <a:alpha val="70000"/>
            </a:schemeClr>
          </a:solidFill>
          <a:ln>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2095" y="5066030"/>
            <a:ext cx="4530090" cy="475615"/>
          </a:xfrm>
          <a:prstGeom prst="rect">
            <a:avLst/>
          </a:prstGeom>
          <a:noFill/>
        </p:spPr>
        <p:txBody>
          <a:bodyPr wrap="square">
            <a:spAutoFit/>
          </a:bodyPr>
          <a:lstStyle/>
          <a:p>
            <a:pPr algn="ctr">
              <a:defRPr sz="2500" b="1">
                <a:solidFill>
                  <a:srgbClr val="162239"/>
                </a:solidFill>
              </a:defRPr>
            </a:pPr>
            <a:r>
              <a:t>Interactive </a:t>
            </a:r>
            <a:r>
              <a:rPr lang="en-US"/>
              <a:t>D</a:t>
            </a:r>
            <a:r>
              <a:t>ashboard</a:t>
            </a:r>
          </a:p>
        </p:txBody>
      </p:sp>
      <p:sp>
        <p:nvSpPr>
          <p:cNvPr id="33" name="TextBox 32"/>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2</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4" name="Picture 33"/>
          <p:cNvPicPr>
            <a:picLocks noChangeAspect="1"/>
          </p:cNvPicPr>
          <p:nvPr/>
        </p:nvPicPr>
        <p:blipFill>
          <a:blip r:embed="rId1"/>
          <a:stretch>
            <a:fillRect/>
          </a:stretch>
        </p:blipFill>
        <p:spPr>
          <a:xfrm>
            <a:off x="10867390" y="146050"/>
            <a:ext cx="1188720" cy="3962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9655" y="735584"/>
            <a:ext cx="3209925" cy="521970"/>
          </a:xfrm>
          <a:prstGeom prst="rect">
            <a:avLst/>
          </a:prstGeom>
          <a:noFill/>
        </p:spPr>
        <p:txBody>
          <a:bodyPr wrap="none">
            <a:spAutoFit/>
          </a:bodyPr>
          <a:lstStyle/>
          <a:p>
            <a:pPr>
              <a:defRPr sz="2500" b="1">
                <a:solidFill>
                  <a:srgbClr val="FFFFFF"/>
                </a:solidFill>
              </a:defRPr>
            </a:pPr>
            <a:r>
              <a:rPr sz="2800">
                <a:solidFill>
                  <a:schemeClr val="tx2">
                    <a:lumMod val="50000"/>
                  </a:schemeClr>
                </a:solidFill>
              </a:rPr>
              <a:t>2. Project Objectives</a:t>
            </a:r>
            <a:endParaRPr sz="2800">
              <a:solidFill>
                <a:schemeClr val="tx2">
                  <a:lumMod val="50000"/>
                </a:schemeClr>
              </a:solidFill>
            </a:endParaRPr>
          </a:p>
        </p:txBody>
      </p:sp>
      <p:sp>
        <p:nvSpPr>
          <p:cNvPr id="6" name="Rounded Rectangle 5"/>
          <p:cNvSpPr/>
          <p:nvPr/>
        </p:nvSpPr>
        <p:spPr>
          <a:xfrm>
            <a:off x="694690" y="1657350"/>
            <a:ext cx="5074920" cy="1874519"/>
          </a:xfrm>
          <a:prstGeom prst="roundRect">
            <a:avLst/>
          </a:prstGeom>
          <a:solidFill>
            <a:schemeClr val="tx2">
              <a:lumMod val="40000"/>
              <a:lumOff val="60000"/>
              <a:alpha val="89000"/>
            </a:schemeClr>
          </a:solidFill>
          <a:ln>
            <a:solidFill>
              <a:schemeClr val="tx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290" y="2160270"/>
            <a:ext cx="594360" cy="548640"/>
          </a:xfrm>
          <a:prstGeom prst="rect">
            <a:avLst/>
          </a:prstGeom>
          <a:noFill/>
        </p:spPr>
        <p:txBody>
          <a:bodyPr wrap="square">
            <a:spAutoFit/>
          </a:bodyPr>
          <a:lstStyle/>
          <a:p>
            <a:pPr algn="l">
              <a:defRPr sz="2500" b="1">
                <a:solidFill>
                  <a:srgbClr val="2D5E96"/>
                </a:solidFill>
              </a:defRPr>
            </a:pPr>
            <a:r>
              <a:t>01</a:t>
            </a:r>
          </a:p>
        </p:txBody>
      </p:sp>
      <p:sp>
        <p:nvSpPr>
          <p:cNvPr id="10" name="TextBox 9"/>
          <p:cNvSpPr txBox="1"/>
          <p:nvPr/>
        </p:nvSpPr>
        <p:spPr>
          <a:xfrm>
            <a:off x="1654810" y="2041398"/>
            <a:ext cx="3749039" cy="368300"/>
          </a:xfrm>
          <a:prstGeom prst="rect">
            <a:avLst/>
          </a:prstGeom>
          <a:noFill/>
        </p:spPr>
        <p:txBody>
          <a:bodyPr wrap="square">
            <a:spAutoFit/>
          </a:bodyPr>
          <a:lstStyle/>
          <a:p>
            <a:pPr algn="l">
              <a:defRPr sz="1800" b="1">
                <a:solidFill>
                  <a:srgbClr val="162239"/>
                </a:solidFill>
              </a:defRPr>
            </a:pPr>
            <a:r>
              <a:rPr>
                <a:solidFill>
                  <a:schemeClr val="tx2"/>
                </a:solidFill>
              </a:rPr>
              <a:t>Measure </a:t>
            </a:r>
            <a:r>
              <a:rPr lang="en-US">
                <a:solidFill>
                  <a:schemeClr val="tx2"/>
                </a:solidFill>
              </a:rPr>
              <a:t>O</a:t>
            </a:r>
            <a:r>
              <a:rPr>
                <a:solidFill>
                  <a:schemeClr val="tx2"/>
                </a:solidFill>
              </a:rPr>
              <a:t>verall </a:t>
            </a:r>
            <a:r>
              <a:rPr lang="en-US">
                <a:solidFill>
                  <a:schemeClr val="tx2"/>
                </a:solidFill>
              </a:rPr>
              <a:t>P</a:t>
            </a:r>
            <a:r>
              <a:rPr>
                <a:solidFill>
                  <a:schemeClr val="tx2"/>
                </a:solidFill>
              </a:rPr>
              <a:t>erformance</a:t>
            </a:r>
            <a:endParaRPr>
              <a:solidFill>
                <a:schemeClr val="tx2"/>
              </a:solidFill>
            </a:endParaRPr>
          </a:p>
        </p:txBody>
      </p:sp>
      <p:sp>
        <p:nvSpPr>
          <p:cNvPr id="11" name="TextBox 10"/>
          <p:cNvSpPr txBox="1"/>
          <p:nvPr/>
        </p:nvSpPr>
        <p:spPr>
          <a:xfrm>
            <a:off x="1654810" y="2526030"/>
            <a:ext cx="3749039" cy="731520"/>
          </a:xfrm>
          <a:prstGeom prst="rect">
            <a:avLst/>
          </a:prstGeom>
          <a:noFill/>
        </p:spPr>
        <p:txBody>
          <a:bodyPr wrap="square">
            <a:spAutoFit/>
          </a:bodyPr>
          <a:lstStyle/>
          <a:p>
            <a:pPr algn="l">
              <a:defRPr sz="1300" b="0">
                <a:solidFill>
                  <a:srgbClr val="697484"/>
                </a:solidFill>
              </a:defRPr>
            </a:pPr>
            <a:r>
              <a:rPr>
                <a:solidFill>
                  <a:schemeClr val="tx1"/>
                </a:solidFill>
              </a:rPr>
              <a:t>Track key indicators such as revenue, profit, quantity, tax and shipping cost.</a:t>
            </a:r>
            <a:endParaRPr>
              <a:solidFill>
                <a:schemeClr val="tx1"/>
              </a:solidFill>
            </a:endParaRPr>
          </a:p>
        </p:txBody>
      </p:sp>
      <p:sp>
        <p:nvSpPr>
          <p:cNvPr id="12" name="Rounded Rectangle 11"/>
          <p:cNvSpPr/>
          <p:nvPr/>
        </p:nvSpPr>
        <p:spPr>
          <a:xfrm>
            <a:off x="6263640" y="1647825"/>
            <a:ext cx="5074920" cy="1874519"/>
          </a:xfrm>
          <a:prstGeom prst="roundRect">
            <a:avLst/>
          </a:prstGeom>
          <a:solidFill>
            <a:schemeClr val="accent2">
              <a:lumMod val="40000"/>
              <a:lumOff val="60000"/>
              <a:alpha val="90000"/>
            </a:schemeClr>
          </a:solidFill>
          <a:ln>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150745"/>
            <a:ext cx="594360" cy="548640"/>
          </a:xfrm>
          <a:prstGeom prst="rect">
            <a:avLst/>
          </a:prstGeom>
          <a:noFill/>
        </p:spPr>
        <p:txBody>
          <a:bodyPr wrap="square">
            <a:spAutoFit/>
          </a:bodyPr>
          <a:lstStyle/>
          <a:p>
            <a:pPr algn="l">
              <a:defRPr sz="2500" b="1">
                <a:solidFill>
                  <a:srgbClr val="D23E3E"/>
                </a:solidFill>
              </a:defRPr>
            </a:pPr>
            <a:r>
              <a:rPr>
                <a:solidFill>
                  <a:schemeClr val="accent2">
                    <a:lumMod val="75000"/>
                  </a:schemeClr>
                </a:solidFill>
              </a:rPr>
              <a:t>02</a:t>
            </a:r>
            <a:endParaRPr>
              <a:solidFill>
                <a:schemeClr val="accent2">
                  <a:lumMod val="75000"/>
                </a:schemeClr>
              </a:solidFill>
            </a:endParaRPr>
          </a:p>
        </p:txBody>
      </p:sp>
      <p:sp>
        <p:nvSpPr>
          <p:cNvPr id="16" name="TextBox 15"/>
          <p:cNvSpPr txBox="1"/>
          <p:nvPr/>
        </p:nvSpPr>
        <p:spPr>
          <a:xfrm>
            <a:off x="7223760" y="2031873"/>
            <a:ext cx="3749039" cy="368300"/>
          </a:xfrm>
          <a:prstGeom prst="rect">
            <a:avLst/>
          </a:prstGeom>
          <a:noFill/>
        </p:spPr>
        <p:txBody>
          <a:bodyPr wrap="square">
            <a:spAutoFit/>
          </a:bodyPr>
          <a:lstStyle/>
          <a:p>
            <a:pPr algn="l">
              <a:defRPr sz="1800" b="1">
                <a:solidFill>
                  <a:srgbClr val="162239"/>
                </a:solidFill>
              </a:defRPr>
            </a:pPr>
            <a:r>
              <a:rPr>
                <a:solidFill>
                  <a:schemeClr val="accent2">
                    <a:lumMod val="75000"/>
                  </a:schemeClr>
                </a:solidFill>
              </a:rPr>
              <a:t>Analyze </a:t>
            </a:r>
            <a:r>
              <a:rPr lang="en-US">
                <a:solidFill>
                  <a:schemeClr val="accent2">
                    <a:lumMod val="75000"/>
                  </a:schemeClr>
                </a:solidFill>
              </a:rPr>
              <a:t>P</a:t>
            </a:r>
            <a:r>
              <a:rPr>
                <a:solidFill>
                  <a:schemeClr val="accent2">
                    <a:lumMod val="75000"/>
                  </a:schemeClr>
                </a:solidFill>
              </a:rPr>
              <a:t>roducts</a:t>
            </a:r>
            <a:endParaRPr>
              <a:solidFill>
                <a:schemeClr val="accent2">
                  <a:lumMod val="75000"/>
                </a:schemeClr>
              </a:solidFill>
            </a:endParaRPr>
          </a:p>
        </p:txBody>
      </p:sp>
      <p:sp>
        <p:nvSpPr>
          <p:cNvPr id="17" name="TextBox 16"/>
          <p:cNvSpPr txBox="1"/>
          <p:nvPr/>
        </p:nvSpPr>
        <p:spPr>
          <a:xfrm>
            <a:off x="7223760" y="2516505"/>
            <a:ext cx="3749039" cy="731520"/>
          </a:xfrm>
          <a:prstGeom prst="rect">
            <a:avLst/>
          </a:prstGeom>
          <a:noFill/>
        </p:spPr>
        <p:txBody>
          <a:bodyPr wrap="square">
            <a:spAutoFit/>
          </a:bodyPr>
          <a:lstStyle/>
          <a:p>
            <a:pPr algn="l">
              <a:defRPr sz="1300" b="0">
                <a:solidFill>
                  <a:srgbClr val="697484"/>
                </a:solidFill>
              </a:defRPr>
            </a:pPr>
            <a:r>
              <a:rPr>
                <a:solidFill>
                  <a:schemeClr val="tx1"/>
                </a:solidFill>
              </a:rPr>
              <a:t>Compare product categories using sales quantity, revenue and profit.</a:t>
            </a:r>
            <a:endParaRPr>
              <a:solidFill>
                <a:schemeClr val="tx1"/>
              </a:solidFill>
            </a:endParaRPr>
          </a:p>
        </p:txBody>
      </p:sp>
      <p:sp>
        <p:nvSpPr>
          <p:cNvPr id="18" name="Rounded Rectangle 17"/>
          <p:cNvSpPr/>
          <p:nvPr/>
        </p:nvSpPr>
        <p:spPr>
          <a:xfrm>
            <a:off x="667385" y="4089400"/>
            <a:ext cx="5074920" cy="1874519"/>
          </a:xfrm>
          <a:prstGeom prst="roundRect">
            <a:avLst/>
          </a:prstGeom>
          <a:solidFill>
            <a:schemeClr val="accent4">
              <a:lumMod val="40000"/>
              <a:lumOff val="60000"/>
              <a:alpha val="90000"/>
            </a:schemeClr>
          </a:solidFill>
          <a:ln>
            <a:solidFill>
              <a:schemeClr val="accent4">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5985" y="4592320"/>
            <a:ext cx="594360" cy="548640"/>
          </a:xfrm>
          <a:prstGeom prst="rect">
            <a:avLst/>
          </a:prstGeom>
          <a:noFill/>
        </p:spPr>
        <p:txBody>
          <a:bodyPr wrap="square">
            <a:spAutoFit/>
          </a:bodyPr>
          <a:lstStyle/>
          <a:p>
            <a:pPr algn="l">
              <a:defRPr sz="2500" b="1">
                <a:solidFill>
                  <a:srgbClr val="FFD248"/>
                </a:solidFill>
              </a:defRPr>
            </a:pPr>
            <a:r>
              <a:rPr>
                <a:solidFill>
                  <a:schemeClr val="accent4">
                    <a:lumMod val="75000"/>
                  </a:schemeClr>
                </a:solidFill>
              </a:rPr>
              <a:t>03</a:t>
            </a:r>
            <a:endParaRPr>
              <a:solidFill>
                <a:schemeClr val="accent4">
                  <a:lumMod val="75000"/>
                </a:schemeClr>
              </a:solidFill>
            </a:endParaRPr>
          </a:p>
        </p:txBody>
      </p:sp>
      <p:sp>
        <p:nvSpPr>
          <p:cNvPr id="22" name="TextBox 21"/>
          <p:cNvSpPr txBox="1"/>
          <p:nvPr/>
        </p:nvSpPr>
        <p:spPr>
          <a:xfrm>
            <a:off x="1627505" y="4473448"/>
            <a:ext cx="3749039" cy="368300"/>
          </a:xfrm>
          <a:prstGeom prst="rect">
            <a:avLst/>
          </a:prstGeom>
          <a:noFill/>
        </p:spPr>
        <p:txBody>
          <a:bodyPr wrap="square">
            <a:spAutoFit/>
          </a:bodyPr>
          <a:lstStyle/>
          <a:p>
            <a:pPr algn="l">
              <a:defRPr sz="1800" b="1">
                <a:solidFill>
                  <a:srgbClr val="162239"/>
                </a:solidFill>
              </a:defRPr>
            </a:pPr>
            <a:r>
              <a:rPr>
                <a:solidFill>
                  <a:schemeClr val="accent4">
                    <a:lumMod val="75000"/>
                  </a:schemeClr>
                </a:solidFill>
              </a:rPr>
              <a:t>Understand </a:t>
            </a:r>
            <a:r>
              <a:rPr lang="en-US">
                <a:solidFill>
                  <a:schemeClr val="accent4">
                    <a:lumMod val="75000"/>
                  </a:schemeClr>
                </a:solidFill>
              </a:rPr>
              <a:t>C</a:t>
            </a:r>
            <a:r>
              <a:rPr>
                <a:solidFill>
                  <a:schemeClr val="accent4">
                    <a:lumMod val="75000"/>
                  </a:schemeClr>
                </a:solidFill>
              </a:rPr>
              <a:t>ustomers</a:t>
            </a:r>
            <a:endParaRPr>
              <a:solidFill>
                <a:schemeClr val="accent4">
                  <a:lumMod val="75000"/>
                </a:schemeClr>
              </a:solidFill>
            </a:endParaRPr>
          </a:p>
        </p:txBody>
      </p:sp>
      <p:sp>
        <p:nvSpPr>
          <p:cNvPr id="23" name="TextBox 22"/>
          <p:cNvSpPr txBox="1"/>
          <p:nvPr/>
        </p:nvSpPr>
        <p:spPr>
          <a:xfrm>
            <a:off x="1627505" y="4958080"/>
            <a:ext cx="3749039" cy="731520"/>
          </a:xfrm>
          <a:prstGeom prst="rect">
            <a:avLst/>
          </a:prstGeom>
          <a:noFill/>
        </p:spPr>
        <p:txBody>
          <a:bodyPr wrap="square">
            <a:spAutoFit/>
          </a:bodyPr>
          <a:lstStyle/>
          <a:p>
            <a:pPr algn="l">
              <a:defRPr sz="1300" b="0">
                <a:solidFill>
                  <a:srgbClr val="697484"/>
                </a:solidFill>
              </a:defRPr>
            </a:pPr>
            <a:r>
              <a:rPr>
                <a:solidFill>
                  <a:schemeClr val="tx1"/>
                </a:solidFill>
              </a:rPr>
              <a:t>Explore customer distribution by country and identify customer segments.</a:t>
            </a:r>
            <a:endParaRPr>
              <a:solidFill>
                <a:schemeClr val="tx1"/>
              </a:solidFill>
            </a:endParaRPr>
          </a:p>
        </p:txBody>
      </p:sp>
      <p:sp>
        <p:nvSpPr>
          <p:cNvPr id="24" name="Rounded Rectangle 23"/>
          <p:cNvSpPr/>
          <p:nvPr/>
        </p:nvSpPr>
        <p:spPr>
          <a:xfrm>
            <a:off x="6263640" y="4093845"/>
            <a:ext cx="5074920" cy="1874519"/>
          </a:xfrm>
          <a:prstGeom prst="roundRect">
            <a:avLst/>
          </a:prstGeom>
          <a:solidFill>
            <a:schemeClr val="accent3">
              <a:lumMod val="40000"/>
              <a:lumOff val="60000"/>
              <a:alpha val="90000"/>
            </a:schemeClr>
          </a:soli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4596765"/>
            <a:ext cx="594360" cy="548640"/>
          </a:xfrm>
          <a:prstGeom prst="rect">
            <a:avLst/>
          </a:prstGeom>
          <a:noFill/>
        </p:spPr>
        <p:txBody>
          <a:bodyPr wrap="square">
            <a:spAutoFit/>
          </a:bodyPr>
          <a:lstStyle/>
          <a:p>
            <a:pPr algn="l">
              <a:defRPr sz="2500" b="1">
                <a:solidFill>
                  <a:srgbClr val="2D8C5F"/>
                </a:solidFill>
              </a:defRPr>
            </a:pPr>
            <a:r>
              <a:rPr>
                <a:solidFill>
                  <a:schemeClr val="accent3">
                    <a:lumMod val="75000"/>
                  </a:schemeClr>
                </a:solidFill>
              </a:rPr>
              <a:t>04</a:t>
            </a:r>
            <a:endParaRPr>
              <a:solidFill>
                <a:schemeClr val="accent3">
                  <a:lumMod val="75000"/>
                </a:schemeClr>
              </a:solidFill>
            </a:endParaRPr>
          </a:p>
        </p:txBody>
      </p:sp>
      <p:sp>
        <p:nvSpPr>
          <p:cNvPr id="28" name="TextBox 27"/>
          <p:cNvSpPr txBox="1"/>
          <p:nvPr/>
        </p:nvSpPr>
        <p:spPr>
          <a:xfrm>
            <a:off x="7223760" y="4477893"/>
            <a:ext cx="3749039" cy="368300"/>
          </a:xfrm>
          <a:prstGeom prst="rect">
            <a:avLst/>
          </a:prstGeom>
          <a:noFill/>
        </p:spPr>
        <p:txBody>
          <a:bodyPr wrap="square">
            <a:spAutoFit/>
          </a:bodyPr>
          <a:lstStyle/>
          <a:p>
            <a:pPr algn="l">
              <a:defRPr sz="1800" b="1">
                <a:solidFill>
                  <a:srgbClr val="162239"/>
                </a:solidFill>
              </a:defRPr>
            </a:pPr>
            <a:r>
              <a:rPr>
                <a:solidFill>
                  <a:schemeClr val="accent3">
                    <a:lumMod val="75000"/>
                  </a:schemeClr>
                </a:solidFill>
              </a:rPr>
              <a:t>Study </a:t>
            </a:r>
            <a:r>
              <a:rPr lang="en-US">
                <a:solidFill>
                  <a:schemeClr val="accent3">
                    <a:lumMod val="75000"/>
                  </a:schemeClr>
                </a:solidFill>
              </a:rPr>
              <a:t>C</a:t>
            </a:r>
            <a:r>
              <a:rPr>
                <a:solidFill>
                  <a:schemeClr val="accent3">
                    <a:lumMod val="75000"/>
                  </a:schemeClr>
                </a:solidFill>
              </a:rPr>
              <a:t>ustomer </a:t>
            </a:r>
            <a:r>
              <a:rPr lang="en-US">
                <a:solidFill>
                  <a:schemeClr val="accent3">
                    <a:lumMod val="75000"/>
                  </a:schemeClr>
                </a:solidFill>
              </a:rPr>
              <a:t>J</a:t>
            </a:r>
            <a:r>
              <a:rPr>
                <a:solidFill>
                  <a:schemeClr val="accent3">
                    <a:lumMod val="75000"/>
                  </a:schemeClr>
                </a:solidFill>
              </a:rPr>
              <a:t>ourney</a:t>
            </a:r>
            <a:endParaRPr>
              <a:solidFill>
                <a:schemeClr val="accent3">
                  <a:lumMod val="75000"/>
                </a:schemeClr>
              </a:solidFill>
            </a:endParaRPr>
          </a:p>
        </p:txBody>
      </p:sp>
      <p:sp>
        <p:nvSpPr>
          <p:cNvPr id="29" name="TextBox 28"/>
          <p:cNvSpPr txBox="1"/>
          <p:nvPr/>
        </p:nvSpPr>
        <p:spPr>
          <a:xfrm>
            <a:off x="7223760" y="4962525"/>
            <a:ext cx="3749039" cy="731520"/>
          </a:xfrm>
          <a:prstGeom prst="rect">
            <a:avLst/>
          </a:prstGeom>
          <a:noFill/>
        </p:spPr>
        <p:txBody>
          <a:bodyPr wrap="square">
            <a:spAutoFit/>
          </a:bodyPr>
          <a:lstStyle/>
          <a:p>
            <a:pPr algn="l">
              <a:defRPr sz="1300" b="0">
                <a:solidFill>
                  <a:srgbClr val="697484"/>
                </a:solidFill>
              </a:defRPr>
            </a:pPr>
            <a:r>
              <a:rPr>
                <a:solidFill>
                  <a:schemeClr val="tx1"/>
                </a:solidFill>
              </a:rPr>
              <a:t>Examine payment methods, traffic sources and returns.</a:t>
            </a:r>
            <a:endParaRPr>
              <a:solidFill>
                <a:schemeClr val="tx1"/>
              </a:solidFill>
            </a:endParaRPr>
          </a:p>
        </p:txBody>
      </p:sp>
      <p:sp>
        <p:nvSpPr>
          <p:cNvPr id="31" name="TextBox 30"/>
          <p:cNvSpPr txBox="1"/>
          <p:nvPr/>
        </p:nvSpPr>
        <p:spPr>
          <a:xfrm>
            <a:off x="10954385" y="6560693"/>
            <a:ext cx="640080" cy="182880"/>
          </a:xfrm>
          <a:prstGeom prst="rect">
            <a:avLst/>
          </a:prstGeom>
          <a:noFill/>
        </p:spPr>
        <p:txBody>
          <a:bodyPr wrap="square">
            <a:spAutoFit/>
          </a:bodyPr>
          <a:lstStyle/>
          <a:p>
            <a:pPr algn="r">
              <a:defRPr sz="900" b="0">
                <a:solidFill>
                  <a:srgbClr val="697484"/>
                </a:solidFill>
              </a:defRPr>
            </a:pPr>
            <a:r>
              <a:t>3</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4" name="Picture 33"/>
          <p:cNvPicPr>
            <a:picLocks noChangeAspect="1"/>
          </p:cNvPicPr>
          <p:nvPr/>
        </p:nvPicPr>
        <p:blipFill>
          <a:blip r:embed="rId1"/>
          <a:stretch>
            <a:fillRect/>
          </a:stretch>
        </p:blipFill>
        <p:spPr>
          <a:xfrm>
            <a:off x="10867390" y="146050"/>
            <a:ext cx="1188720" cy="3962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ounded Rectangle 39"/>
          <p:cNvSpPr/>
          <p:nvPr/>
        </p:nvSpPr>
        <p:spPr>
          <a:xfrm>
            <a:off x="4434840" y="4490720"/>
            <a:ext cx="3204845" cy="594360"/>
          </a:xfrm>
          <a:prstGeom prst="roundRect">
            <a:avLst/>
          </a:prstGeom>
          <a:solidFill>
            <a:srgbClr val="FFFFFF"/>
          </a:solidFill>
          <a:ln>
            <a:solidFill>
              <a:srgbClr val="2D5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6480" y="728980"/>
            <a:ext cx="8274685" cy="396875"/>
          </a:xfrm>
          <a:prstGeom prst="rect">
            <a:avLst/>
          </a:prstGeom>
          <a:noFill/>
        </p:spPr>
        <p:txBody>
          <a:bodyPr wrap="none">
            <a:noAutofit/>
          </a:bodyPr>
          <a:lstStyle/>
          <a:p>
            <a:pPr>
              <a:defRPr sz="2500" b="1">
                <a:solidFill>
                  <a:srgbClr val="FFFFFF"/>
                </a:solidFill>
              </a:defRPr>
            </a:pPr>
            <a:r>
              <a:rPr sz="2800">
                <a:solidFill>
                  <a:schemeClr val="tx2">
                    <a:lumMod val="50000"/>
                  </a:schemeClr>
                </a:solidFill>
              </a:rPr>
              <a:t>3. Dataset &amp; Data Model</a:t>
            </a:r>
            <a:endParaRPr sz="2800">
              <a:solidFill>
                <a:schemeClr val="tx2">
                  <a:lumMod val="50000"/>
                </a:schemeClr>
              </a:solidFill>
            </a:endParaRPr>
          </a:p>
        </p:txBody>
      </p:sp>
      <p:sp>
        <p:nvSpPr>
          <p:cNvPr id="6" name="TextBox 5"/>
          <p:cNvSpPr txBox="1"/>
          <p:nvPr/>
        </p:nvSpPr>
        <p:spPr>
          <a:xfrm>
            <a:off x="840740" y="1537335"/>
            <a:ext cx="9704070" cy="429895"/>
          </a:xfrm>
          <a:prstGeom prst="rect">
            <a:avLst/>
          </a:prstGeom>
          <a:noFill/>
        </p:spPr>
        <p:txBody>
          <a:bodyPr wrap="square">
            <a:spAutoFit/>
          </a:bodyPr>
          <a:lstStyle/>
          <a:p>
            <a:pPr algn="l">
              <a:defRPr sz="2200" b="1">
                <a:solidFill>
                  <a:srgbClr val="162239"/>
                </a:solidFill>
              </a:defRPr>
            </a:pPr>
            <a:r>
              <a:rPr>
                <a:solidFill>
                  <a:schemeClr val="accent1">
                    <a:lumMod val="75000"/>
                  </a:schemeClr>
                </a:solidFill>
              </a:rPr>
              <a:t>Main data areas represented in the model</a:t>
            </a:r>
            <a:endParaRPr>
              <a:solidFill>
                <a:schemeClr val="accent1">
                  <a:lumMod val="75000"/>
                </a:schemeClr>
              </a:solidFill>
            </a:endParaRPr>
          </a:p>
        </p:txBody>
      </p:sp>
      <p:sp>
        <p:nvSpPr>
          <p:cNvPr id="7" name="Rounded Rectangle 6"/>
          <p:cNvSpPr/>
          <p:nvPr/>
        </p:nvSpPr>
        <p:spPr>
          <a:xfrm>
            <a:off x="640080" y="2140585"/>
            <a:ext cx="3429000" cy="2082800"/>
          </a:xfrm>
          <a:prstGeom prst="roundRect">
            <a:avLst/>
          </a:prstGeom>
          <a:solidFill>
            <a:schemeClr val="tx2">
              <a:lumMod val="40000"/>
              <a:lumOff val="60000"/>
            </a:schemeClr>
          </a:solidFill>
          <a:ln w="12700" cmpd="sng">
            <a:solidFill>
              <a:schemeClr val="accent1">
                <a:shade val="50000"/>
              </a:scheme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362327"/>
            <a:ext cx="3063240" cy="320040"/>
          </a:xfrm>
          <a:prstGeom prst="rect">
            <a:avLst/>
          </a:prstGeom>
          <a:noFill/>
        </p:spPr>
        <p:txBody>
          <a:bodyPr wrap="square">
            <a:spAutoFit/>
          </a:bodyPr>
          <a:lstStyle/>
          <a:p>
            <a:pPr algn="l">
              <a:defRPr sz="1200" b="1">
                <a:solidFill>
                  <a:srgbClr val="697484"/>
                </a:solidFill>
              </a:defRPr>
            </a:pPr>
            <a:r>
              <a:rPr>
                <a:solidFill>
                  <a:schemeClr val="accent1">
                    <a:lumMod val="75000"/>
                  </a:schemeClr>
                </a:solidFill>
              </a:rPr>
              <a:t>Product / Sales</a:t>
            </a:r>
            <a:endParaRPr>
              <a:solidFill>
                <a:schemeClr val="accent1">
                  <a:lumMod val="75000"/>
                </a:schemeClr>
              </a:solidFill>
            </a:endParaRPr>
          </a:p>
        </p:txBody>
      </p:sp>
      <p:sp>
        <p:nvSpPr>
          <p:cNvPr id="10" name="TextBox 9"/>
          <p:cNvSpPr txBox="1"/>
          <p:nvPr/>
        </p:nvSpPr>
        <p:spPr>
          <a:xfrm>
            <a:off x="841375" y="2742565"/>
            <a:ext cx="3063240" cy="1362075"/>
          </a:xfrm>
          <a:prstGeom prst="rect">
            <a:avLst/>
          </a:prstGeom>
          <a:noFill/>
        </p:spPr>
        <p:txBody>
          <a:bodyPr wrap="square">
            <a:noAutofit/>
          </a:bodyPr>
          <a:lstStyle/>
          <a:p>
            <a:pPr marL="171450" indent="-171450" algn="l">
              <a:buFont typeface="Arial" panose="020B0604020202020204" pitchFamily="34" charset="0"/>
              <a:buChar char="•"/>
              <a:defRPr sz="1100" b="0">
                <a:solidFill>
                  <a:srgbClr val="697484"/>
                </a:solidFill>
              </a:defRPr>
            </a:pPr>
            <a:r>
              <a:rPr>
                <a:solidFill>
                  <a:schemeClr val="tx1"/>
                </a:solidFill>
              </a:rPr>
              <a:t>Product category</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Quantity</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Revenue</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Profit</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Discounted price</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Tax</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Shipping cost</a:t>
            </a:r>
            <a:endParaRPr>
              <a:solidFill>
                <a:schemeClr val="tx1"/>
              </a:solidFill>
            </a:endParaRPr>
          </a:p>
        </p:txBody>
      </p:sp>
      <p:sp>
        <p:nvSpPr>
          <p:cNvPr id="11" name="Rounded Rectangle 10"/>
          <p:cNvSpPr/>
          <p:nvPr/>
        </p:nvSpPr>
        <p:spPr>
          <a:xfrm>
            <a:off x="4434840" y="2140585"/>
            <a:ext cx="3429000" cy="2082800"/>
          </a:xfrm>
          <a:prstGeom prst="roundRect">
            <a:avLst/>
          </a:prstGeom>
          <a:solidFill>
            <a:schemeClr val="accent4">
              <a:lumMod val="40000"/>
              <a:lumOff val="60000"/>
            </a:schemeClr>
          </a:solidFill>
          <a:ln>
            <a:solidFill>
              <a:schemeClr val="accent4">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8" y="2362327"/>
            <a:ext cx="3063240" cy="320040"/>
          </a:xfrm>
          <a:prstGeom prst="rect">
            <a:avLst/>
          </a:prstGeom>
          <a:noFill/>
        </p:spPr>
        <p:txBody>
          <a:bodyPr wrap="square">
            <a:spAutoFit/>
          </a:bodyPr>
          <a:lstStyle/>
          <a:p>
            <a:pPr algn="l">
              <a:defRPr sz="1200" b="1">
                <a:solidFill>
                  <a:srgbClr val="697484"/>
                </a:solidFill>
              </a:defRPr>
            </a:pPr>
            <a:r>
              <a:rPr>
                <a:solidFill>
                  <a:schemeClr val="accent4">
                    <a:lumMod val="75000"/>
                  </a:schemeClr>
                </a:solidFill>
              </a:rPr>
              <a:t>Customer</a:t>
            </a:r>
            <a:endParaRPr>
              <a:solidFill>
                <a:schemeClr val="accent4">
                  <a:lumMod val="75000"/>
                </a:schemeClr>
              </a:solidFill>
            </a:endParaRPr>
          </a:p>
        </p:txBody>
      </p:sp>
      <p:sp>
        <p:nvSpPr>
          <p:cNvPr id="14" name="TextBox 13"/>
          <p:cNvSpPr txBox="1"/>
          <p:nvPr/>
        </p:nvSpPr>
        <p:spPr>
          <a:xfrm>
            <a:off x="4645533" y="2742438"/>
            <a:ext cx="3063240" cy="768350"/>
          </a:xfrm>
          <a:prstGeom prst="rect">
            <a:avLst/>
          </a:prstGeom>
          <a:noFill/>
        </p:spPr>
        <p:txBody>
          <a:bodyPr wrap="square">
            <a:spAutoFit/>
          </a:bodyPr>
          <a:lstStyle/>
          <a:p>
            <a:pPr marL="171450" indent="-171450" algn="l">
              <a:buFont typeface="Arial" panose="020B0604020202020204" pitchFamily="34" charset="0"/>
              <a:buChar char="•"/>
              <a:defRPr sz="1100" b="0">
                <a:solidFill>
                  <a:srgbClr val="697484"/>
                </a:solidFill>
              </a:defRPr>
            </a:pPr>
            <a:r>
              <a:rPr>
                <a:solidFill>
                  <a:schemeClr val="tx1"/>
                </a:solidFill>
              </a:rPr>
              <a:t>Customer country</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Traffic source</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Return status</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Customer attributes</a:t>
            </a:r>
            <a:endParaRPr>
              <a:solidFill>
                <a:schemeClr val="tx1"/>
              </a:solidFill>
            </a:endParaRPr>
          </a:p>
        </p:txBody>
      </p:sp>
      <p:sp>
        <p:nvSpPr>
          <p:cNvPr id="15" name="Rounded Rectangle 14"/>
          <p:cNvSpPr/>
          <p:nvPr/>
        </p:nvSpPr>
        <p:spPr>
          <a:xfrm>
            <a:off x="8229600" y="2140585"/>
            <a:ext cx="3429000" cy="2082800"/>
          </a:xfrm>
          <a:prstGeom prst="roundRect">
            <a:avLst/>
          </a:prstGeom>
          <a:solidFill>
            <a:schemeClr val="accent2">
              <a:lumMod val="40000"/>
              <a:lumOff val="60000"/>
            </a:schemeClr>
          </a:solidFill>
          <a:ln>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3938" y="2362327"/>
            <a:ext cx="3063240" cy="320040"/>
          </a:xfrm>
          <a:prstGeom prst="rect">
            <a:avLst/>
          </a:prstGeom>
          <a:noFill/>
        </p:spPr>
        <p:txBody>
          <a:bodyPr wrap="square">
            <a:spAutoFit/>
          </a:bodyPr>
          <a:lstStyle/>
          <a:p>
            <a:pPr algn="l">
              <a:defRPr sz="1200" b="1">
                <a:solidFill>
                  <a:srgbClr val="697484"/>
                </a:solidFill>
              </a:defRPr>
            </a:pPr>
            <a:r>
              <a:rPr>
                <a:solidFill>
                  <a:schemeClr val="accent2">
                    <a:lumMod val="75000"/>
                  </a:schemeClr>
                </a:solidFill>
              </a:rPr>
              <a:t>Transaction</a:t>
            </a:r>
            <a:endParaRPr>
              <a:solidFill>
                <a:schemeClr val="accent2">
                  <a:lumMod val="75000"/>
                </a:schemeClr>
              </a:solidFill>
            </a:endParaRPr>
          </a:p>
        </p:txBody>
      </p:sp>
      <p:sp>
        <p:nvSpPr>
          <p:cNvPr id="18" name="TextBox 17"/>
          <p:cNvSpPr txBox="1"/>
          <p:nvPr/>
        </p:nvSpPr>
        <p:spPr>
          <a:xfrm>
            <a:off x="8430895" y="2742565"/>
            <a:ext cx="3063240" cy="1071245"/>
          </a:xfrm>
          <a:prstGeom prst="rect">
            <a:avLst/>
          </a:prstGeom>
          <a:noFill/>
        </p:spPr>
        <p:txBody>
          <a:bodyPr wrap="square">
            <a:noAutofit/>
          </a:bodyPr>
          <a:lstStyle/>
          <a:p>
            <a:pPr marL="171450" indent="-171450" algn="l">
              <a:buFont typeface="Arial" panose="020B0604020202020204" pitchFamily="34" charset="0"/>
              <a:buChar char="•"/>
              <a:defRPr sz="1100" b="0">
                <a:solidFill>
                  <a:srgbClr val="697484"/>
                </a:solidFill>
              </a:defRPr>
            </a:pPr>
            <a:r>
              <a:rPr>
                <a:solidFill>
                  <a:schemeClr val="tx1"/>
                </a:solidFill>
              </a:rPr>
              <a:t>Order date</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Payment method</a:t>
            </a:r>
            <a:endParaRPr>
              <a:solidFill>
                <a:schemeClr val="tx1"/>
              </a:solidFill>
            </a:endParaRPr>
          </a:p>
          <a:p>
            <a:pPr marL="171450" indent="-171450" algn="l">
              <a:buFont typeface="Arial" panose="020B0604020202020204" pitchFamily="34" charset="0"/>
              <a:buChar char="•"/>
              <a:defRPr sz="1100" b="0">
                <a:solidFill>
                  <a:srgbClr val="697484"/>
                </a:solidFill>
              </a:defRPr>
            </a:pPr>
            <a:r>
              <a:rPr>
                <a:solidFill>
                  <a:schemeClr val="tx1"/>
                </a:solidFill>
              </a:rPr>
              <a:t>Order-level measures</a:t>
            </a:r>
            <a:endParaRPr>
              <a:solidFill>
                <a:schemeClr val="tx1"/>
              </a:solidFill>
            </a:endParaRPr>
          </a:p>
        </p:txBody>
      </p:sp>
      <p:sp>
        <p:nvSpPr>
          <p:cNvPr id="19" name="TextBox 18"/>
          <p:cNvSpPr txBox="1"/>
          <p:nvPr/>
        </p:nvSpPr>
        <p:spPr>
          <a:xfrm>
            <a:off x="4510405" y="4578985"/>
            <a:ext cx="3053715" cy="417195"/>
          </a:xfrm>
          <a:prstGeom prst="rect">
            <a:avLst/>
          </a:prstGeom>
          <a:noFill/>
        </p:spPr>
        <p:txBody>
          <a:bodyPr wrap="square">
            <a:noAutofit/>
          </a:bodyPr>
          <a:lstStyle/>
          <a:p>
            <a:pPr algn="ctr">
              <a:defRPr sz="2000" b="1">
                <a:solidFill>
                  <a:srgbClr val="162239"/>
                </a:solidFill>
              </a:defRPr>
            </a:pPr>
            <a:r>
              <a:t>Data preparation workflow</a:t>
            </a:r>
          </a:p>
        </p:txBody>
      </p:sp>
      <p:sp>
        <p:nvSpPr>
          <p:cNvPr id="20" name="Rounded Rectangle 19"/>
          <p:cNvSpPr/>
          <p:nvPr/>
        </p:nvSpPr>
        <p:spPr>
          <a:xfrm>
            <a:off x="819785" y="5380990"/>
            <a:ext cx="1417320" cy="594360"/>
          </a:xfrm>
          <a:prstGeom prst="roundRect">
            <a:avLst/>
          </a:prstGeom>
          <a:solidFill>
            <a:srgbClr val="FFFFFF"/>
          </a:solidFill>
          <a:ln>
            <a:solidFill>
              <a:srgbClr val="2D5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785" y="5527294"/>
            <a:ext cx="1417320" cy="306705"/>
          </a:xfrm>
          <a:prstGeom prst="rect">
            <a:avLst/>
          </a:prstGeom>
          <a:noFill/>
        </p:spPr>
        <p:txBody>
          <a:bodyPr wrap="square">
            <a:spAutoFit/>
          </a:bodyPr>
          <a:lstStyle/>
          <a:p>
            <a:pPr algn="ctr">
              <a:defRPr sz="1100" b="1">
                <a:solidFill>
                  <a:srgbClr val="162239"/>
                </a:solidFill>
              </a:defRPr>
            </a:pPr>
            <a:r>
              <a:rPr sz="1400"/>
              <a:t>Dataset</a:t>
            </a:r>
            <a:endParaRPr sz="1400"/>
          </a:p>
        </p:txBody>
      </p:sp>
      <p:sp>
        <p:nvSpPr>
          <p:cNvPr id="22" name="TextBox 21"/>
          <p:cNvSpPr txBox="1"/>
          <p:nvPr/>
        </p:nvSpPr>
        <p:spPr>
          <a:xfrm>
            <a:off x="2237105" y="5490718"/>
            <a:ext cx="411480" cy="228600"/>
          </a:xfrm>
          <a:prstGeom prst="rect">
            <a:avLst/>
          </a:prstGeom>
          <a:noFill/>
        </p:spPr>
        <p:txBody>
          <a:bodyPr wrap="square">
            <a:spAutoFit/>
          </a:bodyPr>
          <a:lstStyle/>
          <a:p>
            <a:pPr algn="ctr">
              <a:defRPr sz="1700" b="1">
                <a:solidFill>
                  <a:srgbClr val="697484"/>
                </a:solidFill>
              </a:defRPr>
            </a:pPr>
            <a:r>
              <a:t>→</a:t>
            </a:r>
          </a:p>
        </p:txBody>
      </p:sp>
      <p:sp>
        <p:nvSpPr>
          <p:cNvPr id="23" name="Rounded Rectangle 22"/>
          <p:cNvSpPr/>
          <p:nvPr/>
        </p:nvSpPr>
        <p:spPr>
          <a:xfrm>
            <a:off x="2666873" y="5380990"/>
            <a:ext cx="1417320" cy="594360"/>
          </a:xfrm>
          <a:prstGeom prst="roundRect">
            <a:avLst/>
          </a:prstGeom>
          <a:solidFill>
            <a:srgbClr val="FFFFFF"/>
          </a:solidFill>
          <a:ln>
            <a:solidFill>
              <a:srgbClr val="2D5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66873" y="5527294"/>
            <a:ext cx="1417320" cy="306705"/>
          </a:xfrm>
          <a:prstGeom prst="rect">
            <a:avLst/>
          </a:prstGeom>
          <a:noFill/>
        </p:spPr>
        <p:txBody>
          <a:bodyPr wrap="square">
            <a:spAutoFit/>
          </a:bodyPr>
          <a:lstStyle/>
          <a:p>
            <a:pPr algn="ctr">
              <a:defRPr sz="1100" b="1">
                <a:solidFill>
                  <a:srgbClr val="162239"/>
                </a:solidFill>
              </a:defRPr>
            </a:pPr>
            <a:r>
              <a:rPr sz="1400"/>
              <a:t>Cleaning</a:t>
            </a:r>
            <a:endParaRPr sz="1400"/>
          </a:p>
        </p:txBody>
      </p:sp>
      <p:sp>
        <p:nvSpPr>
          <p:cNvPr id="25" name="TextBox 24"/>
          <p:cNvSpPr txBox="1"/>
          <p:nvPr/>
        </p:nvSpPr>
        <p:spPr>
          <a:xfrm>
            <a:off x="4084193" y="5490718"/>
            <a:ext cx="411480" cy="228600"/>
          </a:xfrm>
          <a:prstGeom prst="rect">
            <a:avLst/>
          </a:prstGeom>
          <a:noFill/>
        </p:spPr>
        <p:txBody>
          <a:bodyPr wrap="square">
            <a:spAutoFit/>
          </a:bodyPr>
          <a:lstStyle/>
          <a:p>
            <a:pPr algn="ctr">
              <a:defRPr sz="1700" b="1">
                <a:solidFill>
                  <a:srgbClr val="697484"/>
                </a:solidFill>
              </a:defRPr>
            </a:pPr>
            <a:r>
              <a:t>→</a:t>
            </a:r>
          </a:p>
        </p:txBody>
      </p:sp>
      <p:sp>
        <p:nvSpPr>
          <p:cNvPr id="26" name="Rounded Rectangle 25"/>
          <p:cNvSpPr/>
          <p:nvPr/>
        </p:nvSpPr>
        <p:spPr>
          <a:xfrm>
            <a:off x="4513961" y="5380990"/>
            <a:ext cx="1417320" cy="594360"/>
          </a:xfrm>
          <a:prstGeom prst="roundRect">
            <a:avLst/>
          </a:prstGeom>
          <a:solidFill>
            <a:srgbClr val="FFFFFF"/>
          </a:solidFill>
          <a:ln>
            <a:solidFill>
              <a:srgbClr val="2D5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13961" y="5527294"/>
            <a:ext cx="1417320" cy="306705"/>
          </a:xfrm>
          <a:prstGeom prst="rect">
            <a:avLst/>
          </a:prstGeom>
          <a:noFill/>
        </p:spPr>
        <p:txBody>
          <a:bodyPr wrap="square">
            <a:spAutoFit/>
          </a:bodyPr>
          <a:lstStyle/>
          <a:p>
            <a:pPr algn="ctr">
              <a:defRPr sz="1100" b="1">
                <a:solidFill>
                  <a:srgbClr val="162239"/>
                </a:solidFill>
              </a:defRPr>
            </a:pPr>
            <a:r>
              <a:rPr sz="1400"/>
              <a:t>Model</a:t>
            </a:r>
            <a:endParaRPr sz="1400"/>
          </a:p>
        </p:txBody>
      </p:sp>
      <p:sp>
        <p:nvSpPr>
          <p:cNvPr id="28" name="TextBox 27"/>
          <p:cNvSpPr txBox="1"/>
          <p:nvPr/>
        </p:nvSpPr>
        <p:spPr>
          <a:xfrm>
            <a:off x="5931281" y="5490718"/>
            <a:ext cx="411480" cy="228600"/>
          </a:xfrm>
          <a:prstGeom prst="rect">
            <a:avLst/>
          </a:prstGeom>
          <a:noFill/>
        </p:spPr>
        <p:txBody>
          <a:bodyPr wrap="square">
            <a:spAutoFit/>
          </a:bodyPr>
          <a:lstStyle/>
          <a:p>
            <a:pPr algn="ctr">
              <a:defRPr sz="1700" b="1">
                <a:solidFill>
                  <a:srgbClr val="697484"/>
                </a:solidFill>
              </a:defRPr>
            </a:pPr>
            <a:r>
              <a:t>→</a:t>
            </a:r>
          </a:p>
        </p:txBody>
      </p:sp>
      <p:sp>
        <p:nvSpPr>
          <p:cNvPr id="29" name="Rounded Rectangle 28"/>
          <p:cNvSpPr/>
          <p:nvPr/>
        </p:nvSpPr>
        <p:spPr>
          <a:xfrm>
            <a:off x="6361049" y="5380990"/>
            <a:ext cx="1417320" cy="594360"/>
          </a:xfrm>
          <a:prstGeom prst="roundRect">
            <a:avLst/>
          </a:prstGeom>
          <a:solidFill>
            <a:srgbClr val="FFFFFF"/>
          </a:solidFill>
          <a:ln>
            <a:solidFill>
              <a:srgbClr val="2D5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1049" y="5527294"/>
            <a:ext cx="1417320" cy="306705"/>
          </a:xfrm>
          <a:prstGeom prst="rect">
            <a:avLst/>
          </a:prstGeom>
          <a:noFill/>
        </p:spPr>
        <p:txBody>
          <a:bodyPr wrap="square">
            <a:spAutoFit/>
          </a:bodyPr>
          <a:lstStyle/>
          <a:p>
            <a:pPr algn="ctr">
              <a:defRPr sz="1100" b="1">
                <a:solidFill>
                  <a:srgbClr val="162239"/>
                </a:solidFill>
              </a:defRPr>
            </a:pPr>
            <a:r>
              <a:rPr sz="1400"/>
              <a:t>Measures</a:t>
            </a:r>
            <a:endParaRPr sz="1400"/>
          </a:p>
        </p:txBody>
      </p:sp>
      <p:sp>
        <p:nvSpPr>
          <p:cNvPr id="31" name="TextBox 30"/>
          <p:cNvSpPr txBox="1"/>
          <p:nvPr/>
        </p:nvSpPr>
        <p:spPr>
          <a:xfrm>
            <a:off x="7778369" y="5490718"/>
            <a:ext cx="411480" cy="228600"/>
          </a:xfrm>
          <a:prstGeom prst="rect">
            <a:avLst/>
          </a:prstGeom>
          <a:noFill/>
        </p:spPr>
        <p:txBody>
          <a:bodyPr wrap="square">
            <a:spAutoFit/>
          </a:bodyPr>
          <a:lstStyle/>
          <a:p>
            <a:pPr algn="ctr">
              <a:defRPr sz="1700" b="1">
                <a:solidFill>
                  <a:srgbClr val="697484"/>
                </a:solidFill>
              </a:defRPr>
            </a:pPr>
            <a:r>
              <a:t>→</a:t>
            </a:r>
          </a:p>
        </p:txBody>
      </p:sp>
      <p:sp>
        <p:nvSpPr>
          <p:cNvPr id="32" name="Rounded Rectangle 31"/>
          <p:cNvSpPr/>
          <p:nvPr/>
        </p:nvSpPr>
        <p:spPr>
          <a:xfrm>
            <a:off x="8208137" y="5380990"/>
            <a:ext cx="1417320" cy="594360"/>
          </a:xfrm>
          <a:prstGeom prst="roundRect">
            <a:avLst/>
          </a:prstGeom>
          <a:solidFill>
            <a:srgbClr val="FFFFFF"/>
          </a:solidFill>
          <a:ln>
            <a:solidFill>
              <a:srgbClr val="2D5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08137" y="5527294"/>
            <a:ext cx="1417320" cy="306705"/>
          </a:xfrm>
          <a:prstGeom prst="rect">
            <a:avLst/>
          </a:prstGeom>
          <a:noFill/>
        </p:spPr>
        <p:txBody>
          <a:bodyPr wrap="square">
            <a:spAutoFit/>
          </a:bodyPr>
          <a:lstStyle/>
          <a:p>
            <a:pPr algn="ctr">
              <a:defRPr sz="1100" b="1">
                <a:solidFill>
                  <a:srgbClr val="162239"/>
                </a:solidFill>
              </a:defRPr>
            </a:pPr>
            <a:r>
              <a:rPr sz="1400"/>
              <a:t>Visuals</a:t>
            </a:r>
            <a:endParaRPr sz="1400"/>
          </a:p>
        </p:txBody>
      </p:sp>
      <p:sp>
        <p:nvSpPr>
          <p:cNvPr id="34" name="TextBox 33"/>
          <p:cNvSpPr txBox="1"/>
          <p:nvPr/>
        </p:nvSpPr>
        <p:spPr>
          <a:xfrm>
            <a:off x="9625457" y="5490718"/>
            <a:ext cx="411480" cy="228600"/>
          </a:xfrm>
          <a:prstGeom prst="rect">
            <a:avLst/>
          </a:prstGeom>
          <a:noFill/>
        </p:spPr>
        <p:txBody>
          <a:bodyPr wrap="square">
            <a:spAutoFit/>
          </a:bodyPr>
          <a:lstStyle/>
          <a:p>
            <a:pPr algn="ctr">
              <a:defRPr sz="1700" b="1">
                <a:solidFill>
                  <a:srgbClr val="697484"/>
                </a:solidFill>
              </a:defRPr>
            </a:pPr>
            <a:r>
              <a:t>→</a:t>
            </a:r>
          </a:p>
        </p:txBody>
      </p:sp>
      <p:sp>
        <p:nvSpPr>
          <p:cNvPr id="35" name="Rounded Rectangle 34"/>
          <p:cNvSpPr/>
          <p:nvPr/>
        </p:nvSpPr>
        <p:spPr>
          <a:xfrm>
            <a:off x="10055225" y="5380990"/>
            <a:ext cx="1417320" cy="594360"/>
          </a:xfrm>
          <a:prstGeom prst="roundRect">
            <a:avLst/>
          </a:prstGeom>
          <a:solidFill>
            <a:srgbClr val="FFFFFF"/>
          </a:solidFill>
          <a:ln>
            <a:solidFill>
              <a:srgbClr val="2D5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5225" y="5527294"/>
            <a:ext cx="1417320" cy="306705"/>
          </a:xfrm>
          <a:prstGeom prst="rect">
            <a:avLst/>
          </a:prstGeom>
          <a:noFill/>
        </p:spPr>
        <p:txBody>
          <a:bodyPr wrap="square">
            <a:spAutoFit/>
          </a:bodyPr>
          <a:lstStyle/>
          <a:p>
            <a:pPr algn="ctr">
              <a:defRPr sz="1100" b="1">
                <a:solidFill>
                  <a:srgbClr val="162239"/>
                </a:solidFill>
              </a:defRPr>
            </a:pPr>
            <a:r>
              <a:rPr sz="1400"/>
              <a:t>Dashboard</a:t>
            </a:r>
            <a:endParaRPr sz="1400"/>
          </a:p>
        </p:txBody>
      </p:sp>
      <p:sp>
        <p:nvSpPr>
          <p:cNvPr id="38" name="TextBox 37"/>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4</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9" name="Picture 38"/>
          <p:cNvPicPr>
            <a:picLocks noChangeAspect="1"/>
          </p:cNvPicPr>
          <p:nvPr/>
        </p:nvPicPr>
        <p:blipFill>
          <a:blip r:embed="rId1"/>
          <a:stretch>
            <a:fillRect/>
          </a:stretch>
        </p:blipFill>
        <p:spPr>
          <a:xfrm>
            <a:off x="10867390" y="146050"/>
            <a:ext cx="1188720" cy="396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940" y="728599"/>
            <a:ext cx="3215005" cy="521970"/>
          </a:xfrm>
          <a:prstGeom prst="rect">
            <a:avLst/>
          </a:prstGeom>
          <a:noFill/>
        </p:spPr>
        <p:txBody>
          <a:bodyPr wrap="none">
            <a:spAutoFit/>
          </a:bodyPr>
          <a:lstStyle/>
          <a:p>
            <a:pPr>
              <a:defRPr sz="2500" b="1">
                <a:solidFill>
                  <a:srgbClr val="FFFFFF"/>
                </a:solidFill>
              </a:defRPr>
            </a:pPr>
            <a:r>
              <a:rPr sz="2800">
                <a:solidFill>
                  <a:schemeClr val="tx2">
                    <a:lumMod val="50000"/>
                  </a:schemeClr>
                </a:solidFill>
              </a:rPr>
              <a:t>4. Dashboard Design</a:t>
            </a:r>
            <a:endParaRPr sz="2800">
              <a:solidFill>
                <a:schemeClr val="tx2">
                  <a:lumMod val="50000"/>
                </a:schemeClr>
              </a:solidFill>
            </a:endParaRPr>
          </a:p>
        </p:txBody>
      </p:sp>
      <p:sp>
        <p:nvSpPr>
          <p:cNvPr id="7" name="Rounded Rectangle 6"/>
          <p:cNvSpPr/>
          <p:nvPr/>
        </p:nvSpPr>
        <p:spPr>
          <a:xfrm>
            <a:off x="640080" y="1600200"/>
            <a:ext cx="5166360" cy="868680"/>
          </a:xfrm>
          <a:prstGeom prst="roundRect">
            <a:avLst/>
          </a:prstGeom>
          <a:solidFill>
            <a:schemeClr val="tx2">
              <a:lumMod val="40000"/>
              <a:lumOff val="60000"/>
              <a:alpha val="90000"/>
            </a:schemeClr>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764792"/>
            <a:ext cx="4800600" cy="320040"/>
          </a:xfrm>
          <a:prstGeom prst="rect">
            <a:avLst/>
          </a:prstGeom>
          <a:noFill/>
        </p:spPr>
        <p:txBody>
          <a:bodyPr wrap="square">
            <a:spAutoFit/>
          </a:bodyPr>
          <a:lstStyle/>
          <a:p>
            <a:pPr algn="l">
              <a:defRPr sz="1200" b="1">
                <a:solidFill>
                  <a:srgbClr val="697484"/>
                </a:solidFill>
              </a:defRPr>
            </a:pPr>
            <a:r>
              <a:rPr>
                <a:solidFill>
                  <a:schemeClr val="accent1">
                    <a:lumMod val="50000"/>
                  </a:schemeClr>
                </a:solidFill>
              </a:rPr>
              <a:t>KPI Cards</a:t>
            </a:r>
            <a:endParaRPr>
              <a:solidFill>
                <a:schemeClr val="accent1">
                  <a:lumMod val="50000"/>
                </a:schemeClr>
              </a:solidFill>
            </a:endParaRPr>
          </a:p>
        </p:txBody>
      </p:sp>
      <p:sp>
        <p:nvSpPr>
          <p:cNvPr id="10" name="TextBox 9"/>
          <p:cNvSpPr txBox="1"/>
          <p:nvPr/>
        </p:nvSpPr>
        <p:spPr>
          <a:xfrm>
            <a:off x="841247" y="2019173"/>
            <a:ext cx="4800600" cy="275590"/>
          </a:xfrm>
          <a:prstGeom prst="rect">
            <a:avLst/>
          </a:prstGeom>
          <a:noFill/>
        </p:spPr>
        <p:txBody>
          <a:bodyPr wrap="square">
            <a:spAutoFit/>
          </a:bodyPr>
          <a:lstStyle/>
          <a:p>
            <a:pPr algn="l">
              <a:defRPr sz="1100" b="0">
                <a:solidFill>
                  <a:srgbClr val="697484"/>
                </a:solidFill>
              </a:defRPr>
            </a:pPr>
            <a:r>
              <a:rPr sz="1200">
                <a:solidFill>
                  <a:schemeClr val="tx1"/>
                </a:solidFill>
              </a:rPr>
              <a:t>Discounted price, profit, quantity and tax</a:t>
            </a:r>
            <a:endParaRPr sz="1200">
              <a:solidFill>
                <a:schemeClr val="tx1"/>
              </a:solidFill>
            </a:endParaRPr>
          </a:p>
        </p:txBody>
      </p:sp>
      <p:sp>
        <p:nvSpPr>
          <p:cNvPr id="11" name="Rounded Rectangle 10"/>
          <p:cNvSpPr/>
          <p:nvPr/>
        </p:nvSpPr>
        <p:spPr>
          <a:xfrm>
            <a:off x="6263640" y="1600200"/>
            <a:ext cx="5166360" cy="868680"/>
          </a:xfrm>
          <a:prstGeom prst="roundRect">
            <a:avLst/>
          </a:prstGeom>
          <a:solidFill>
            <a:schemeClr val="accent2">
              <a:lumMod val="40000"/>
              <a:lumOff val="60000"/>
              <a:alpha val="90000"/>
            </a:schemeClr>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764792"/>
            <a:ext cx="4800600" cy="320040"/>
          </a:xfrm>
          <a:prstGeom prst="rect">
            <a:avLst/>
          </a:prstGeom>
          <a:noFill/>
        </p:spPr>
        <p:txBody>
          <a:bodyPr wrap="square">
            <a:spAutoFit/>
          </a:bodyPr>
          <a:lstStyle/>
          <a:p>
            <a:pPr algn="l">
              <a:defRPr sz="1200" b="1">
                <a:solidFill>
                  <a:srgbClr val="697484"/>
                </a:solidFill>
              </a:defRPr>
            </a:pPr>
            <a:r>
              <a:rPr>
                <a:solidFill>
                  <a:schemeClr val="accent2">
                    <a:lumMod val="75000"/>
                  </a:schemeClr>
                </a:solidFill>
              </a:rPr>
              <a:t>Product Analysis</a:t>
            </a:r>
            <a:endParaRPr>
              <a:solidFill>
                <a:schemeClr val="accent2">
                  <a:lumMod val="75000"/>
                </a:schemeClr>
              </a:solidFill>
            </a:endParaRPr>
          </a:p>
        </p:txBody>
      </p:sp>
      <p:sp>
        <p:nvSpPr>
          <p:cNvPr id="14" name="TextBox 13"/>
          <p:cNvSpPr txBox="1"/>
          <p:nvPr/>
        </p:nvSpPr>
        <p:spPr>
          <a:xfrm>
            <a:off x="6464808" y="2029968"/>
            <a:ext cx="4800600" cy="275590"/>
          </a:xfrm>
          <a:prstGeom prst="rect">
            <a:avLst/>
          </a:prstGeom>
          <a:noFill/>
        </p:spPr>
        <p:txBody>
          <a:bodyPr wrap="square">
            <a:spAutoFit/>
          </a:bodyPr>
          <a:lstStyle/>
          <a:p>
            <a:pPr algn="l">
              <a:defRPr sz="1100" b="0">
                <a:solidFill>
                  <a:srgbClr val="697484"/>
                </a:solidFill>
              </a:defRPr>
            </a:pPr>
            <a:r>
              <a:rPr sz="1200">
                <a:solidFill>
                  <a:schemeClr val="tx1"/>
                </a:solidFill>
              </a:rPr>
              <a:t>Quantity and profit by product category</a:t>
            </a:r>
            <a:endParaRPr sz="1200">
              <a:solidFill>
                <a:schemeClr val="tx1"/>
              </a:solidFill>
            </a:endParaRPr>
          </a:p>
        </p:txBody>
      </p:sp>
      <p:sp>
        <p:nvSpPr>
          <p:cNvPr id="15" name="Rounded Rectangle 14"/>
          <p:cNvSpPr/>
          <p:nvPr/>
        </p:nvSpPr>
        <p:spPr>
          <a:xfrm>
            <a:off x="640080" y="2743200"/>
            <a:ext cx="5166360" cy="868680"/>
          </a:xfrm>
          <a:prstGeom prst="roundRect">
            <a:avLst/>
          </a:prstGeom>
          <a:solidFill>
            <a:srgbClr val="FFFEA9">
              <a:alpha val="90000"/>
            </a:srgbClr>
          </a:solidFill>
          <a:ln>
            <a:solidFill>
              <a:schemeClr val="bg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2907792"/>
            <a:ext cx="4800600" cy="320040"/>
          </a:xfrm>
          <a:prstGeom prst="rect">
            <a:avLst/>
          </a:prstGeom>
          <a:noFill/>
        </p:spPr>
        <p:txBody>
          <a:bodyPr wrap="square">
            <a:spAutoFit/>
          </a:bodyPr>
          <a:lstStyle/>
          <a:p>
            <a:pPr algn="l">
              <a:defRPr sz="1200" b="1">
                <a:solidFill>
                  <a:srgbClr val="697484"/>
                </a:solidFill>
              </a:defRPr>
            </a:pPr>
            <a:r>
              <a:rPr>
                <a:solidFill>
                  <a:schemeClr val="bg2">
                    <a:lumMod val="25000"/>
                  </a:schemeClr>
                </a:solidFill>
              </a:rPr>
              <a:t>Customer Geography</a:t>
            </a:r>
            <a:endParaRPr>
              <a:solidFill>
                <a:schemeClr val="bg2">
                  <a:lumMod val="25000"/>
                </a:schemeClr>
              </a:solidFill>
            </a:endParaRPr>
          </a:p>
        </p:txBody>
      </p:sp>
      <p:sp>
        <p:nvSpPr>
          <p:cNvPr id="18" name="TextBox 17"/>
          <p:cNvSpPr txBox="1"/>
          <p:nvPr/>
        </p:nvSpPr>
        <p:spPr>
          <a:xfrm>
            <a:off x="841247" y="3154553"/>
            <a:ext cx="4800600" cy="275590"/>
          </a:xfrm>
          <a:prstGeom prst="rect">
            <a:avLst/>
          </a:prstGeom>
          <a:noFill/>
        </p:spPr>
        <p:txBody>
          <a:bodyPr wrap="square">
            <a:spAutoFit/>
          </a:bodyPr>
          <a:lstStyle/>
          <a:p>
            <a:pPr algn="l">
              <a:defRPr sz="1100" b="0">
                <a:solidFill>
                  <a:srgbClr val="697484"/>
                </a:solidFill>
              </a:defRPr>
            </a:pPr>
            <a:r>
              <a:rPr sz="1200">
                <a:solidFill>
                  <a:schemeClr val="tx1"/>
                </a:solidFill>
              </a:rPr>
              <a:t>Customer country and quantity distribution</a:t>
            </a:r>
            <a:endParaRPr sz="1200">
              <a:solidFill>
                <a:schemeClr val="tx1"/>
              </a:solidFill>
            </a:endParaRPr>
          </a:p>
        </p:txBody>
      </p:sp>
      <p:sp>
        <p:nvSpPr>
          <p:cNvPr id="19" name="Rounded Rectangle 18"/>
          <p:cNvSpPr/>
          <p:nvPr/>
        </p:nvSpPr>
        <p:spPr>
          <a:xfrm>
            <a:off x="6263640" y="2743200"/>
            <a:ext cx="5166360" cy="868680"/>
          </a:xfrm>
          <a:prstGeom prst="roundRect">
            <a:avLst/>
          </a:prstGeom>
          <a:solidFill>
            <a:schemeClr val="accent3">
              <a:lumMod val="40000"/>
              <a:lumOff val="60000"/>
              <a:alpha val="90000"/>
            </a:schemeClr>
          </a:solidFill>
          <a:ln>
            <a:solidFill>
              <a:schemeClr val="accent3">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2907792"/>
            <a:ext cx="4800600" cy="320040"/>
          </a:xfrm>
          <a:prstGeom prst="rect">
            <a:avLst/>
          </a:prstGeom>
          <a:noFill/>
        </p:spPr>
        <p:txBody>
          <a:bodyPr wrap="square">
            <a:spAutoFit/>
          </a:bodyPr>
          <a:lstStyle/>
          <a:p>
            <a:pPr algn="l">
              <a:defRPr sz="1200" b="1">
                <a:solidFill>
                  <a:srgbClr val="697484"/>
                </a:solidFill>
              </a:defRPr>
            </a:pPr>
            <a:r>
              <a:rPr>
                <a:solidFill>
                  <a:schemeClr val="accent3">
                    <a:lumMod val="50000"/>
                  </a:schemeClr>
                </a:solidFill>
              </a:rPr>
              <a:t>Returns</a:t>
            </a:r>
            <a:endParaRPr>
              <a:solidFill>
                <a:schemeClr val="accent3">
                  <a:lumMod val="50000"/>
                </a:schemeClr>
              </a:solidFill>
            </a:endParaRPr>
          </a:p>
        </p:txBody>
      </p:sp>
      <p:sp>
        <p:nvSpPr>
          <p:cNvPr id="22" name="TextBox 21"/>
          <p:cNvSpPr txBox="1"/>
          <p:nvPr/>
        </p:nvSpPr>
        <p:spPr>
          <a:xfrm>
            <a:off x="6464808" y="3154553"/>
            <a:ext cx="4800600" cy="275590"/>
          </a:xfrm>
          <a:prstGeom prst="rect">
            <a:avLst/>
          </a:prstGeom>
          <a:noFill/>
        </p:spPr>
        <p:txBody>
          <a:bodyPr wrap="square">
            <a:spAutoFit/>
          </a:bodyPr>
          <a:lstStyle/>
          <a:p>
            <a:pPr algn="l">
              <a:defRPr sz="1100" b="0">
                <a:solidFill>
                  <a:srgbClr val="697484"/>
                </a:solidFill>
              </a:defRPr>
            </a:pPr>
            <a:r>
              <a:rPr sz="1200">
                <a:solidFill>
                  <a:schemeClr val="tx1"/>
                </a:solidFill>
              </a:rPr>
              <a:t>Return rate across categories and time</a:t>
            </a:r>
            <a:endParaRPr sz="1200">
              <a:solidFill>
                <a:schemeClr val="tx1"/>
              </a:solidFill>
            </a:endParaRPr>
          </a:p>
        </p:txBody>
      </p:sp>
      <p:sp>
        <p:nvSpPr>
          <p:cNvPr id="23" name="Rounded Rectangle 22"/>
          <p:cNvSpPr/>
          <p:nvPr/>
        </p:nvSpPr>
        <p:spPr>
          <a:xfrm>
            <a:off x="640080" y="3886200"/>
            <a:ext cx="5166360" cy="868680"/>
          </a:xfrm>
          <a:prstGeom prst="roundRect">
            <a:avLst/>
          </a:prstGeom>
          <a:solidFill>
            <a:schemeClr val="tx2">
              <a:lumMod val="40000"/>
              <a:lumOff val="60000"/>
              <a:alpha val="90000"/>
            </a:schemeClr>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 y="4050791"/>
            <a:ext cx="4800600" cy="320040"/>
          </a:xfrm>
          <a:prstGeom prst="rect">
            <a:avLst/>
          </a:prstGeom>
          <a:noFill/>
        </p:spPr>
        <p:txBody>
          <a:bodyPr wrap="square">
            <a:spAutoFit/>
          </a:bodyPr>
          <a:lstStyle/>
          <a:p>
            <a:pPr algn="l">
              <a:defRPr sz="1200" b="1">
                <a:solidFill>
                  <a:srgbClr val="697484"/>
                </a:solidFill>
              </a:defRPr>
            </a:pPr>
            <a:r>
              <a:rPr>
                <a:solidFill>
                  <a:schemeClr val="accent1">
                    <a:lumMod val="50000"/>
                  </a:schemeClr>
                </a:solidFill>
              </a:rPr>
              <a:t>Payment Analysis</a:t>
            </a:r>
            <a:endParaRPr>
              <a:solidFill>
                <a:schemeClr val="accent1">
                  <a:lumMod val="50000"/>
                </a:schemeClr>
              </a:solidFill>
            </a:endParaRPr>
          </a:p>
        </p:txBody>
      </p:sp>
      <p:sp>
        <p:nvSpPr>
          <p:cNvPr id="26" name="TextBox 25"/>
          <p:cNvSpPr txBox="1"/>
          <p:nvPr/>
        </p:nvSpPr>
        <p:spPr>
          <a:xfrm>
            <a:off x="841247" y="4332478"/>
            <a:ext cx="4800600" cy="275590"/>
          </a:xfrm>
          <a:prstGeom prst="rect">
            <a:avLst/>
          </a:prstGeom>
          <a:noFill/>
        </p:spPr>
        <p:txBody>
          <a:bodyPr wrap="square">
            <a:spAutoFit/>
          </a:bodyPr>
          <a:lstStyle/>
          <a:p>
            <a:pPr algn="l">
              <a:defRPr sz="1100" b="0">
                <a:solidFill>
                  <a:srgbClr val="697484"/>
                </a:solidFill>
              </a:defRPr>
            </a:pPr>
            <a:r>
              <a:rPr sz="1200">
                <a:solidFill>
                  <a:schemeClr val="tx1"/>
                </a:solidFill>
              </a:rPr>
              <a:t>Quantity by payment method</a:t>
            </a:r>
            <a:endParaRPr sz="1200">
              <a:solidFill>
                <a:schemeClr val="tx1"/>
              </a:solidFill>
            </a:endParaRPr>
          </a:p>
        </p:txBody>
      </p:sp>
      <p:sp>
        <p:nvSpPr>
          <p:cNvPr id="27" name="Rounded Rectangle 26"/>
          <p:cNvSpPr/>
          <p:nvPr/>
        </p:nvSpPr>
        <p:spPr>
          <a:xfrm>
            <a:off x="6263640" y="3886200"/>
            <a:ext cx="5166360" cy="868680"/>
          </a:xfrm>
          <a:prstGeom prst="roundRect">
            <a:avLst/>
          </a:prstGeom>
          <a:solidFill>
            <a:schemeClr val="accent2">
              <a:lumMod val="40000"/>
              <a:lumOff val="60000"/>
              <a:alpha val="90000"/>
            </a:schemeClr>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8" y="4050791"/>
            <a:ext cx="4800600" cy="320040"/>
          </a:xfrm>
          <a:prstGeom prst="rect">
            <a:avLst/>
          </a:prstGeom>
          <a:noFill/>
        </p:spPr>
        <p:txBody>
          <a:bodyPr wrap="square">
            <a:spAutoFit/>
          </a:bodyPr>
          <a:lstStyle/>
          <a:p>
            <a:pPr algn="l">
              <a:defRPr sz="1200" b="1">
                <a:solidFill>
                  <a:srgbClr val="697484"/>
                </a:solidFill>
              </a:defRPr>
            </a:pPr>
            <a:r>
              <a:rPr>
                <a:solidFill>
                  <a:schemeClr val="accent2">
                    <a:lumMod val="75000"/>
                  </a:schemeClr>
                </a:solidFill>
              </a:rPr>
              <a:t>Marketing Performance</a:t>
            </a:r>
            <a:endParaRPr>
              <a:solidFill>
                <a:schemeClr val="accent2">
                  <a:lumMod val="75000"/>
                </a:schemeClr>
              </a:solidFill>
            </a:endParaRPr>
          </a:p>
        </p:txBody>
      </p:sp>
      <p:sp>
        <p:nvSpPr>
          <p:cNvPr id="30" name="TextBox 29"/>
          <p:cNvSpPr txBox="1"/>
          <p:nvPr/>
        </p:nvSpPr>
        <p:spPr>
          <a:xfrm>
            <a:off x="6464808" y="4352163"/>
            <a:ext cx="4800600" cy="275590"/>
          </a:xfrm>
          <a:prstGeom prst="rect">
            <a:avLst/>
          </a:prstGeom>
          <a:noFill/>
        </p:spPr>
        <p:txBody>
          <a:bodyPr wrap="square">
            <a:spAutoFit/>
          </a:bodyPr>
          <a:lstStyle/>
          <a:p>
            <a:pPr algn="l">
              <a:defRPr sz="1100" b="0">
                <a:solidFill>
                  <a:srgbClr val="697484"/>
                </a:solidFill>
              </a:defRPr>
            </a:pPr>
            <a:r>
              <a:rPr sz="1200">
                <a:solidFill>
                  <a:schemeClr val="tx1"/>
                </a:solidFill>
              </a:rPr>
              <a:t>Revenue by traffic source</a:t>
            </a:r>
            <a:endParaRPr sz="1200">
              <a:solidFill>
                <a:schemeClr val="tx1"/>
              </a:solidFill>
            </a:endParaRPr>
          </a:p>
        </p:txBody>
      </p:sp>
      <p:sp>
        <p:nvSpPr>
          <p:cNvPr id="31" name="Rounded Rectangle 30"/>
          <p:cNvSpPr/>
          <p:nvPr/>
        </p:nvSpPr>
        <p:spPr>
          <a:xfrm>
            <a:off x="640080" y="5029200"/>
            <a:ext cx="5166360" cy="868680"/>
          </a:xfrm>
          <a:prstGeom prst="roundRect">
            <a:avLst/>
          </a:prstGeom>
          <a:solidFill>
            <a:srgbClr val="FFFEA9">
              <a:alpha val="90000"/>
            </a:srgbClr>
          </a:solidFill>
          <a:ln>
            <a:solidFill>
              <a:schemeClr val="bg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7" y="5193792"/>
            <a:ext cx="4800600" cy="320040"/>
          </a:xfrm>
          <a:prstGeom prst="rect">
            <a:avLst/>
          </a:prstGeom>
          <a:noFill/>
        </p:spPr>
        <p:txBody>
          <a:bodyPr wrap="square">
            <a:spAutoFit/>
          </a:bodyPr>
          <a:lstStyle/>
          <a:p>
            <a:pPr algn="l">
              <a:defRPr sz="1200" b="1">
                <a:solidFill>
                  <a:srgbClr val="697484"/>
                </a:solidFill>
              </a:defRPr>
            </a:pPr>
            <a:r>
              <a:rPr>
                <a:solidFill>
                  <a:schemeClr val="bg2">
                    <a:lumMod val="25000"/>
                  </a:schemeClr>
                </a:solidFill>
              </a:rPr>
              <a:t>Interactive Filters</a:t>
            </a:r>
            <a:endParaRPr>
              <a:solidFill>
                <a:schemeClr val="bg2">
                  <a:lumMod val="25000"/>
                </a:schemeClr>
              </a:solidFill>
            </a:endParaRPr>
          </a:p>
        </p:txBody>
      </p:sp>
      <p:sp>
        <p:nvSpPr>
          <p:cNvPr id="34" name="TextBox 33"/>
          <p:cNvSpPr txBox="1"/>
          <p:nvPr/>
        </p:nvSpPr>
        <p:spPr>
          <a:xfrm>
            <a:off x="841247" y="5458968"/>
            <a:ext cx="4800600" cy="275590"/>
          </a:xfrm>
          <a:prstGeom prst="rect">
            <a:avLst/>
          </a:prstGeom>
          <a:noFill/>
        </p:spPr>
        <p:txBody>
          <a:bodyPr wrap="square">
            <a:spAutoFit/>
          </a:bodyPr>
          <a:lstStyle/>
          <a:p>
            <a:pPr algn="l">
              <a:defRPr sz="1100" b="0">
                <a:solidFill>
                  <a:srgbClr val="697484"/>
                </a:solidFill>
              </a:defRPr>
            </a:pPr>
            <a:r>
              <a:rPr sz="1200">
                <a:solidFill>
                  <a:schemeClr val="tx1"/>
                </a:solidFill>
              </a:rPr>
              <a:t>Category, country and order-date slicers</a:t>
            </a:r>
            <a:endParaRPr sz="1200">
              <a:solidFill>
                <a:schemeClr val="tx1"/>
              </a:solidFill>
            </a:endParaRPr>
          </a:p>
        </p:txBody>
      </p:sp>
      <p:sp>
        <p:nvSpPr>
          <p:cNvPr id="36" name="TextBox 35"/>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5</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7" name="Picture 36"/>
          <p:cNvPicPr>
            <a:picLocks noChangeAspect="1"/>
          </p:cNvPicPr>
          <p:nvPr/>
        </p:nvPicPr>
        <p:blipFill>
          <a:blip r:embed="rId1"/>
          <a:stretch>
            <a:fillRect/>
          </a:stretch>
        </p:blipFill>
        <p:spPr>
          <a:xfrm>
            <a:off x="10867390" y="146050"/>
            <a:ext cx="1188720" cy="396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940" y="728599"/>
            <a:ext cx="2222500" cy="521970"/>
          </a:xfrm>
          <a:prstGeom prst="rect">
            <a:avLst/>
          </a:prstGeom>
          <a:noFill/>
        </p:spPr>
        <p:txBody>
          <a:bodyPr wrap="none">
            <a:spAutoFit/>
          </a:bodyPr>
          <a:lstStyle/>
          <a:p>
            <a:pPr>
              <a:defRPr sz="2500" b="1">
                <a:solidFill>
                  <a:srgbClr val="FFFFFF"/>
                </a:solidFill>
              </a:defRPr>
            </a:pPr>
            <a:r>
              <a:rPr lang="en-US" sz="2800">
                <a:solidFill>
                  <a:schemeClr val="tx2">
                    <a:lumMod val="50000"/>
                  </a:schemeClr>
                </a:solidFill>
              </a:rPr>
              <a:t>5</a:t>
            </a:r>
            <a:r>
              <a:rPr sz="2800">
                <a:solidFill>
                  <a:schemeClr val="tx2">
                    <a:lumMod val="50000"/>
                  </a:schemeClr>
                </a:solidFill>
              </a:rPr>
              <a:t>. Dashboard </a:t>
            </a:r>
            <a:endParaRPr sz="2800">
              <a:solidFill>
                <a:schemeClr val="tx2">
                  <a:lumMod val="50000"/>
                </a:schemeClr>
              </a:solidFill>
            </a:endParaRPr>
          </a:p>
        </p:txBody>
      </p:sp>
      <p:sp>
        <p:nvSpPr>
          <p:cNvPr id="36" name="TextBox 35"/>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5</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7" name="Picture 36"/>
          <p:cNvPicPr>
            <a:picLocks noChangeAspect="1"/>
          </p:cNvPicPr>
          <p:nvPr/>
        </p:nvPicPr>
        <p:blipFill>
          <a:blip r:embed="rId1"/>
          <a:stretch>
            <a:fillRect/>
          </a:stretch>
        </p:blipFill>
        <p:spPr>
          <a:xfrm>
            <a:off x="10867390" y="146050"/>
            <a:ext cx="1188720" cy="396240"/>
          </a:xfrm>
          <a:prstGeom prst="rect">
            <a:avLst/>
          </a:prstGeom>
        </p:spPr>
      </p:pic>
      <p:pic>
        <p:nvPicPr>
          <p:cNvPr id="3" name="Picture 2"/>
          <p:cNvPicPr>
            <a:picLocks noChangeAspect="1"/>
          </p:cNvPicPr>
          <p:nvPr/>
        </p:nvPicPr>
        <p:blipFill>
          <a:blip r:embed="rId2"/>
          <a:stretch>
            <a:fillRect/>
          </a:stretch>
        </p:blipFill>
        <p:spPr>
          <a:xfrm>
            <a:off x="762000" y="1508760"/>
            <a:ext cx="10622280" cy="49707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305" y="735584"/>
            <a:ext cx="4145915" cy="521970"/>
          </a:xfrm>
          <a:prstGeom prst="rect">
            <a:avLst/>
          </a:prstGeom>
          <a:noFill/>
        </p:spPr>
        <p:txBody>
          <a:bodyPr wrap="none">
            <a:spAutoFit/>
          </a:bodyPr>
          <a:lstStyle/>
          <a:p>
            <a:pPr>
              <a:defRPr sz="2500" b="1">
                <a:solidFill>
                  <a:srgbClr val="FFFFFF"/>
                </a:solidFill>
              </a:defRPr>
            </a:pPr>
            <a:r>
              <a:rPr lang="en-US" sz="2800">
                <a:solidFill>
                  <a:schemeClr val="tx2">
                    <a:lumMod val="50000"/>
                  </a:schemeClr>
                </a:solidFill>
              </a:rPr>
              <a:t>6</a:t>
            </a:r>
            <a:r>
              <a:rPr sz="2800">
                <a:solidFill>
                  <a:schemeClr val="tx2">
                    <a:lumMod val="50000"/>
                  </a:schemeClr>
                </a:solidFill>
              </a:rPr>
              <a:t>. Sales &amp; Product Analysis</a:t>
            </a:r>
            <a:endParaRPr sz="2800">
              <a:solidFill>
                <a:schemeClr val="tx2">
                  <a:lumMod val="50000"/>
                </a:schemeClr>
              </a:solidFill>
            </a:endParaRPr>
          </a:p>
        </p:txBody>
      </p:sp>
      <p:sp>
        <p:nvSpPr>
          <p:cNvPr id="6" name="TextBox 5"/>
          <p:cNvSpPr txBox="1"/>
          <p:nvPr/>
        </p:nvSpPr>
        <p:spPr>
          <a:xfrm>
            <a:off x="769620" y="1600200"/>
            <a:ext cx="5120640" cy="502920"/>
          </a:xfrm>
          <a:prstGeom prst="rect">
            <a:avLst/>
          </a:prstGeom>
          <a:noFill/>
        </p:spPr>
        <p:txBody>
          <a:bodyPr wrap="square">
            <a:spAutoFit/>
          </a:bodyPr>
          <a:lstStyle/>
          <a:p>
            <a:pPr algn="l">
              <a:defRPr sz="2300" b="1">
                <a:solidFill>
                  <a:srgbClr val="162239"/>
                </a:solidFill>
              </a:defRPr>
            </a:pPr>
            <a:r>
              <a:rPr>
                <a:solidFill>
                  <a:schemeClr val="accent1">
                    <a:lumMod val="75000"/>
                  </a:schemeClr>
                </a:solidFill>
              </a:rPr>
              <a:t>What the dashboard examines</a:t>
            </a:r>
            <a:endParaRPr>
              <a:solidFill>
                <a:schemeClr val="accent1">
                  <a:lumMod val="75000"/>
                </a:schemeClr>
              </a:solidFill>
            </a:endParaRPr>
          </a:p>
        </p:txBody>
      </p:sp>
      <p:sp>
        <p:nvSpPr>
          <p:cNvPr id="7" name="TextBox 6"/>
          <p:cNvSpPr txBox="1"/>
          <p:nvPr/>
        </p:nvSpPr>
        <p:spPr>
          <a:xfrm>
            <a:off x="769620" y="2148840"/>
            <a:ext cx="5120640" cy="3253105"/>
          </a:xfrm>
          <a:prstGeom prst="roundRect">
            <a:avLst/>
          </a:prstGeom>
          <a:solidFill>
            <a:schemeClr val="bg1">
              <a:alpha val="90000"/>
            </a:schemeClr>
          </a:solidFill>
          <a:ln>
            <a:solidFill>
              <a:schemeClr val="accent1"/>
            </a:solidFill>
          </a:ln>
        </p:spPr>
        <p:txBody>
          <a:bodyPr wrap="square">
            <a:noAutofit/>
          </a:bodyPr>
          <a:lstStyle/>
          <a:p>
            <a:pPr>
              <a:spcAft>
                <a:spcPts val="1000"/>
              </a:spcAft>
              <a:defRPr sz="1600">
                <a:solidFill>
                  <a:srgbClr val="202833"/>
                </a:solidFill>
              </a:defRPr>
            </a:pPr>
            <a:r>
              <a:t>• Overall sales performance is summarized through revenue, profit, quantity, tax and shipping-related measures.</a:t>
            </a:r>
          </a:p>
          <a:p>
            <a:pPr>
              <a:spcAft>
                <a:spcPts val="1000"/>
              </a:spcAft>
              <a:defRPr sz="1600">
                <a:solidFill>
                  <a:srgbClr val="202833"/>
                </a:solidFill>
              </a:defRPr>
            </a:pPr>
            <a:r>
              <a:t>• Product categories can be compared using quantity sold and profit.</a:t>
            </a:r>
          </a:p>
          <a:p>
            <a:pPr>
              <a:spcAft>
                <a:spcPts val="1000"/>
              </a:spcAft>
              <a:defRPr sz="1600">
                <a:solidFill>
                  <a:srgbClr val="202833"/>
                </a:solidFill>
              </a:defRPr>
            </a:pPr>
            <a:r>
              <a:t>• The category-level views help identify differences in sales volume and profitability.</a:t>
            </a:r>
          </a:p>
          <a:p>
            <a:pPr>
              <a:spcAft>
                <a:spcPts val="1000"/>
              </a:spcAft>
              <a:defRPr sz="1600">
                <a:solidFill>
                  <a:srgbClr val="202833"/>
                </a:solidFill>
              </a:defRPr>
            </a:pPr>
            <a:r>
              <a:t>• Using category and date filters allows the same measures to be examined for a specific period or product group.</a:t>
            </a:r>
          </a:p>
        </p:txBody>
      </p:sp>
      <p:sp>
        <p:nvSpPr>
          <p:cNvPr id="8" name="Freeform 7"/>
          <p:cNvSpPr/>
          <p:nvPr/>
        </p:nvSpPr>
        <p:spPr>
          <a:xfrm>
            <a:off x="6393180" y="1599860"/>
            <a:ext cx="5052060" cy="4391638"/>
          </a:xfrm>
          <a:custGeom>
            <a:avLst/>
            <a:gdLst>
              <a:gd name="connsiteX0" fmla="*/ 12 w 7956"/>
              <a:gd name="connsiteY0" fmla="*/ 578 h 6915"/>
              <a:gd name="connsiteX1" fmla="*/ 1164 w 7956"/>
              <a:gd name="connsiteY1" fmla="*/ 2 h 6915"/>
              <a:gd name="connsiteX2" fmla="*/ 6780 w 7956"/>
              <a:gd name="connsiteY2" fmla="*/ 2 h 6915"/>
              <a:gd name="connsiteX3" fmla="*/ 7956 w 7956"/>
              <a:gd name="connsiteY3" fmla="*/ 602 h 6915"/>
              <a:gd name="connsiteX4" fmla="*/ 7908 w 7956"/>
              <a:gd name="connsiteY4" fmla="*/ 6277 h 6915"/>
              <a:gd name="connsiteX5" fmla="*/ 6780 w 7956"/>
              <a:gd name="connsiteY5" fmla="*/ 6914 h 6915"/>
              <a:gd name="connsiteX6" fmla="*/ 1164 w 7956"/>
              <a:gd name="connsiteY6" fmla="*/ 6914 h 6915"/>
              <a:gd name="connsiteX7" fmla="*/ 0 w 7956"/>
              <a:gd name="connsiteY7" fmla="*/ 6350 h 6915"/>
              <a:gd name="connsiteX8" fmla="*/ 12 w 7956"/>
              <a:gd name="connsiteY8" fmla="*/ 578 h 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 h="6916">
                <a:moveTo>
                  <a:pt x="12" y="578"/>
                </a:moveTo>
                <a:cubicBezTo>
                  <a:pt x="12" y="-58"/>
                  <a:pt x="528" y="2"/>
                  <a:pt x="1164" y="2"/>
                </a:cubicBezTo>
                <a:lnTo>
                  <a:pt x="6780" y="2"/>
                </a:lnTo>
                <a:cubicBezTo>
                  <a:pt x="7416" y="2"/>
                  <a:pt x="7956" y="-34"/>
                  <a:pt x="7956" y="602"/>
                </a:cubicBezTo>
                <a:lnTo>
                  <a:pt x="7908" y="6277"/>
                </a:lnTo>
                <a:cubicBezTo>
                  <a:pt x="7908" y="6913"/>
                  <a:pt x="7416" y="6914"/>
                  <a:pt x="6780" y="6914"/>
                </a:cubicBezTo>
                <a:lnTo>
                  <a:pt x="1164" y="6914"/>
                </a:lnTo>
                <a:cubicBezTo>
                  <a:pt x="528" y="6914"/>
                  <a:pt x="0" y="6986"/>
                  <a:pt x="0" y="6350"/>
                </a:cubicBezTo>
                <a:lnTo>
                  <a:pt x="12" y="578"/>
                </a:lnTo>
                <a:close/>
              </a:path>
            </a:pathLst>
          </a:custGeom>
          <a:blipFill rotWithShape="1">
            <a:blip r:embed="rId1"/>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6</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4" name="Picture 33"/>
          <p:cNvPicPr>
            <a:picLocks noChangeAspect="1"/>
          </p:cNvPicPr>
          <p:nvPr/>
        </p:nvPicPr>
        <p:blipFill>
          <a:blip r:embed="rId2"/>
          <a:stretch>
            <a:fillRect/>
          </a:stretch>
        </p:blipFill>
        <p:spPr>
          <a:xfrm>
            <a:off x="10867390" y="146050"/>
            <a:ext cx="1188720" cy="396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305" y="735584"/>
            <a:ext cx="4957445" cy="521970"/>
          </a:xfrm>
          <a:prstGeom prst="rect">
            <a:avLst/>
          </a:prstGeom>
          <a:noFill/>
        </p:spPr>
        <p:txBody>
          <a:bodyPr wrap="none">
            <a:spAutoFit/>
          </a:bodyPr>
          <a:lstStyle/>
          <a:p>
            <a:pPr algn="l">
              <a:defRPr sz="2500" b="1">
                <a:solidFill>
                  <a:srgbClr val="FFFFFF"/>
                </a:solidFill>
              </a:defRPr>
            </a:pPr>
            <a:r>
              <a:rPr lang="en-US" sz="2800">
                <a:solidFill>
                  <a:schemeClr val="tx2">
                    <a:lumMod val="50000"/>
                  </a:schemeClr>
                </a:solidFill>
                <a:sym typeface="+mn-ea"/>
              </a:rPr>
              <a:t>7</a:t>
            </a:r>
            <a:r>
              <a:rPr sz="2800">
                <a:solidFill>
                  <a:schemeClr val="tx2">
                    <a:lumMod val="50000"/>
                  </a:schemeClr>
                </a:solidFill>
                <a:sym typeface="+mn-ea"/>
              </a:rPr>
              <a:t>. Customer &amp; Payment Analysis</a:t>
            </a:r>
            <a:endParaRPr sz="2800">
              <a:solidFill>
                <a:schemeClr val="tx2">
                  <a:lumMod val="50000"/>
                </a:schemeClr>
              </a:solidFill>
              <a:sym typeface="+mn-ea"/>
            </a:endParaRPr>
          </a:p>
        </p:txBody>
      </p:sp>
      <p:sp>
        <p:nvSpPr>
          <p:cNvPr id="22" name="TextBox 21"/>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6</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4" name="Picture 33"/>
          <p:cNvPicPr>
            <a:picLocks noChangeAspect="1"/>
          </p:cNvPicPr>
          <p:nvPr/>
        </p:nvPicPr>
        <p:blipFill>
          <a:blip r:embed="rId1"/>
          <a:stretch>
            <a:fillRect/>
          </a:stretch>
        </p:blipFill>
        <p:spPr>
          <a:xfrm>
            <a:off x="10867390" y="146050"/>
            <a:ext cx="1188720" cy="396240"/>
          </a:xfrm>
          <a:prstGeom prst="rect">
            <a:avLst/>
          </a:prstGeom>
        </p:spPr>
      </p:pic>
      <p:sp>
        <p:nvSpPr>
          <p:cNvPr id="26" name="Freeform 25"/>
          <p:cNvSpPr/>
          <p:nvPr/>
        </p:nvSpPr>
        <p:spPr>
          <a:xfrm>
            <a:off x="655955" y="1670685"/>
            <a:ext cx="5207635" cy="1904365"/>
          </a:xfrm>
          <a:custGeom>
            <a:avLst/>
            <a:gdLst>
              <a:gd name="connsiteX0" fmla="*/ 12 w 7956"/>
              <a:gd name="connsiteY0" fmla="*/ 578 h 6915"/>
              <a:gd name="connsiteX1" fmla="*/ 1164 w 7956"/>
              <a:gd name="connsiteY1" fmla="*/ 2 h 6915"/>
              <a:gd name="connsiteX2" fmla="*/ 6780 w 7956"/>
              <a:gd name="connsiteY2" fmla="*/ 2 h 6915"/>
              <a:gd name="connsiteX3" fmla="*/ 7956 w 7956"/>
              <a:gd name="connsiteY3" fmla="*/ 602 h 6915"/>
              <a:gd name="connsiteX4" fmla="*/ 7908 w 7956"/>
              <a:gd name="connsiteY4" fmla="*/ 6277 h 6915"/>
              <a:gd name="connsiteX5" fmla="*/ 6780 w 7956"/>
              <a:gd name="connsiteY5" fmla="*/ 6914 h 6915"/>
              <a:gd name="connsiteX6" fmla="*/ 1164 w 7956"/>
              <a:gd name="connsiteY6" fmla="*/ 6914 h 6915"/>
              <a:gd name="connsiteX7" fmla="*/ 0 w 7956"/>
              <a:gd name="connsiteY7" fmla="*/ 6350 h 6915"/>
              <a:gd name="connsiteX8" fmla="*/ 12 w 7956"/>
              <a:gd name="connsiteY8" fmla="*/ 578 h 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 h="6916">
                <a:moveTo>
                  <a:pt x="12" y="578"/>
                </a:moveTo>
                <a:cubicBezTo>
                  <a:pt x="12" y="-58"/>
                  <a:pt x="528" y="2"/>
                  <a:pt x="1164" y="2"/>
                </a:cubicBezTo>
                <a:lnTo>
                  <a:pt x="6780" y="2"/>
                </a:lnTo>
                <a:cubicBezTo>
                  <a:pt x="7416" y="2"/>
                  <a:pt x="7956" y="-34"/>
                  <a:pt x="7956" y="602"/>
                </a:cubicBezTo>
                <a:lnTo>
                  <a:pt x="7908" y="6277"/>
                </a:lnTo>
                <a:cubicBezTo>
                  <a:pt x="7908" y="6913"/>
                  <a:pt x="7416" y="6914"/>
                  <a:pt x="6780" y="6914"/>
                </a:cubicBezTo>
                <a:lnTo>
                  <a:pt x="1164" y="6914"/>
                </a:lnTo>
                <a:cubicBezTo>
                  <a:pt x="528" y="6914"/>
                  <a:pt x="0" y="6986"/>
                  <a:pt x="0" y="6350"/>
                </a:cubicBezTo>
                <a:lnTo>
                  <a:pt x="12" y="578"/>
                </a:lnTo>
                <a:close/>
              </a:path>
            </a:pathLst>
          </a:custGeom>
          <a:blipFill rotWithShape="1">
            <a:blip r:embed="rId2"/>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6454140" y="1609725"/>
            <a:ext cx="5052060" cy="4140200"/>
          </a:xfrm>
          <a:custGeom>
            <a:avLst/>
            <a:gdLst>
              <a:gd name="connsiteX0" fmla="*/ 12 w 7956"/>
              <a:gd name="connsiteY0" fmla="*/ 578 h 6915"/>
              <a:gd name="connsiteX1" fmla="*/ 1164 w 7956"/>
              <a:gd name="connsiteY1" fmla="*/ 2 h 6915"/>
              <a:gd name="connsiteX2" fmla="*/ 6780 w 7956"/>
              <a:gd name="connsiteY2" fmla="*/ 2 h 6915"/>
              <a:gd name="connsiteX3" fmla="*/ 7956 w 7956"/>
              <a:gd name="connsiteY3" fmla="*/ 602 h 6915"/>
              <a:gd name="connsiteX4" fmla="*/ 7908 w 7956"/>
              <a:gd name="connsiteY4" fmla="*/ 6277 h 6915"/>
              <a:gd name="connsiteX5" fmla="*/ 6780 w 7956"/>
              <a:gd name="connsiteY5" fmla="*/ 6914 h 6915"/>
              <a:gd name="connsiteX6" fmla="*/ 1164 w 7956"/>
              <a:gd name="connsiteY6" fmla="*/ 6914 h 6915"/>
              <a:gd name="connsiteX7" fmla="*/ 0 w 7956"/>
              <a:gd name="connsiteY7" fmla="*/ 6350 h 6915"/>
              <a:gd name="connsiteX8" fmla="*/ 12 w 7956"/>
              <a:gd name="connsiteY8" fmla="*/ 578 h 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 h="6916">
                <a:moveTo>
                  <a:pt x="12" y="578"/>
                </a:moveTo>
                <a:cubicBezTo>
                  <a:pt x="12" y="-58"/>
                  <a:pt x="528" y="2"/>
                  <a:pt x="1164" y="2"/>
                </a:cubicBezTo>
                <a:lnTo>
                  <a:pt x="6780" y="2"/>
                </a:lnTo>
                <a:cubicBezTo>
                  <a:pt x="7416" y="2"/>
                  <a:pt x="7956" y="-34"/>
                  <a:pt x="7956" y="602"/>
                </a:cubicBezTo>
                <a:lnTo>
                  <a:pt x="7908" y="6277"/>
                </a:lnTo>
                <a:cubicBezTo>
                  <a:pt x="7908" y="6913"/>
                  <a:pt x="7416" y="6914"/>
                  <a:pt x="6780" y="6914"/>
                </a:cubicBezTo>
                <a:lnTo>
                  <a:pt x="1164" y="6914"/>
                </a:lnTo>
                <a:cubicBezTo>
                  <a:pt x="528" y="6914"/>
                  <a:pt x="0" y="6986"/>
                  <a:pt x="0" y="6350"/>
                </a:cubicBezTo>
                <a:lnTo>
                  <a:pt x="12" y="578"/>
                </a:lnTo>
                <a:close/>
              </a:path>
            </a:pathLst>
          </a:custGeom>
          <a:blipFill rotWithShape="1">
            <a:blip r:embed="rId3"/>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1669415" y="3845560"/>
            <a:ext cx="4194175" cy="2300605"/>
          </a:xfrm>
          <a:custGeom>
            <a:avLst/>
            <a:gdLst>
              <a:gd name="connsiteX0" fmla="*/ 12 w 7956"/>
              <a:gd name="connsiteY0" fmla="*/ 578 h 6915"/>
              <a:gd name="connsiteX1" fmla="*/ 1164 w 7956"/>
              <a:gd name="connsiteY1" fmla="*/ 2 h 6915"/>
              <a:gd name="connsiteX2" fmla="*/ 6780 w 7956"/>
              <a:gd name="connsiteY2" fmla="*/ 2 h 6915"/>
              <a:gd name="connsiteX3" fmla="*/ 7956 w 7956"/>
              <a:gd name="connsiteY3" fmla="*/ 602 h 6915"/>
              <a:gd name="connsiteX4" fmla="*/ 7908 w 7956"/>
              <a:gd name="connsiteY4" fmla="*/ 6277 h 6915"/>
              <a:gd name="connsiteX5" fmla="*/ 6780 w 7956"/>
              <a:gd name="connsiteY5" fmla="*/ 6914 h 6915"/>
              <a:gd name="connsiteX6" fmla="*/ 1164 w 7956"/>
              <a:gd name="connsiteY6" fmla="*/ 6914 h 6915"/>
              <a:gd name="connsiteX7" fmla="*/ 0 w 7956"/>
              <a:gd name="connsiteY7" fmla="*/ 6350 h 6915"/>
              <a:gd name="connsiteX8" fmla="*/ 12 w 7956"/>
              <a:gd name="connsiteY8" fmla="*/ 578 h 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 h="6916">
                <a:moveTo>
                  <a:pt x="12" y="578"/>
                </a:moveTo>
                <a:cubicBezTo>
                  <a:pt x="12" y="-58"/>
                  <a:pt x="528" y="2"/>
                  <a:pt x="1164" y="2"/>
                </a:cubicBezTo>
                <a:lnTo>
                  <a:pt x="6780" y="2"/>
                </a:lnTo>
                <a:cubicBezTo>
                  <a:pt x="7416" y="2"/>
                  <a:pt x="7956" y="-34"/>
                  <a:pt x="7956" y="602"/>
                </a:cubicBezTo>
                <a:lnTo>
                  <a:pt x="7908" y="6277"/>
                </a:lnTo>
                <a:cubicBezTo>
                  <a:pt x="7908" y="6913"/>
                  <a:pt x="7416" y="6914"/>
                  <a:pt x="6780" y="6914"/>
                </a:cubicBezTo>
                <a:lnTo>
                  <a:pt x="1164" y="6914"/>
                </a:lnTo>
                <a:cubicBezTo>
                  <a:pt x="528" y="6914"/>
                  <a:pt x="0" y="6986"/>
                  <a:pt x="0" y="6350"/>
                </a:cubicBezTo>
                <a:lnTo>
                  <a:pt x="12" y="578"/>
                </a:lnTo>
                <a:close/>
              </a:path>
            </a:pathLst>
          </a:custGeom>
          <a:blipFill rotWithShape="1">
            <a:blip r:embed="rId4"/>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305" y="735584"/>
            <a:ext cx="4902200" cy="521970"/>
          </a:xfrm>
          <a:prstGeom prst="rect">
            <a:avLst/>
          </a:prstGeom>
          <a:noFill/>
        </p:spPr>
        <p:txBody>
          <a:bodyPr wrap="none">
            <a:spAutoFit/>
          </a:bodyPr>
          <a:lstStyle/>
          <a:p>
            <a:pPr algn="l">
              <a:defRPr sz="2500" b="1">
                <a:solidFill>
                  <a:srgbClr val="FFFFFF"/>
                </a:solidFill>
              </a:defRPr>
            </a:pPr>
            <a:r>
              <a:rPr lang="en-US" sz="2800">
                <a:solidFill>
                  <a:schemeClr val="tx2">
                    <a:lumMod val="50000"/>
                  </a:schemeClr>
                </a:solidFill>
                <a:sym typeface="+mn-ea"/>
              </a:rPr>
              <a:t>8</a:t>
            </a:r>
            <a:r>
              <a:rPr sz="2800">
                <a:solidFill>
                  <a:schemeClr val="tx2">
                    <a:lumMod val="50000"/>
                  </a:schemeClr>
                </a:solidFill>
                <a:sym typeface="+mn-ea"/>
              </a:rPr>
              <a:t>. Returns &amp; Marketing Analysis</a:t>
            </a:r>
            <a:endParaRPr sz="2800">
              <a:solidFill>
                <a:schemeClr val="tx2">
                  <a:lumMod val="50000"/>
                </a:schemeClr>
              </a:solidFill>
              <a:sym typeface="+mn-ea"/>
            </a:endParaRPr>
          </a:p>
        </p:txBody>
      </p:sp>
      <p:sp>
        <p:nvSpPr>
          <p:cNvPr id="22" name="TextBox 21"/>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6</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4" name="Picture 33"/>
          <p:cNvPicPr>
            <a:picLocks noChangeAspect="1"/>
          </p:cNvPicPr>
          <p:nvPr/>
        </p:nvPicPr>
        <p:blipFill>
          <a:blip r:embed="rId1"/>
          <a:stretch>
            <a:fillRect/>
          </a:stretch>
        </p:blipFill>
        <p:spPr>
          <a:xfrm>
            <a:off x="10867390" y="146050"/>
            <a:ext cx="1188720" cy="396240"/>
          </a:xfrm>
          <a:prstGeom prst="rect">
            <a:avLst/>
          </a:prstGeom>
        </p:spPr>
      </p:pic>
      <p:sp>
        <p:nvSpPr>
          <p:cNvPr id="7" name="TextBox 6"/>
          <p:cNvSpPr txBox="1"/>
          <p:nvPr/>
        </p:nvSpPr>
        <p:spPr>
          <a:xfrm>
            <a:off x="640080" y="1897380"/>
            <a:ext cx="5074920" cy="2103120"/>
          </a:xfrm>
          <a:prstGeom prst="rect">
            <a:avLst/>
          </a:prstGeom>
          <a:noFill/>
        </p:spPr>
        <p:txBody>
          <a:bodyPr wrap="square">
            <a:spAutoFit/>
          </a:bodyPr>
          <a:lstStyle/>
          <a:p>
            <a:pPr>
              <a:spcAft>
                <a:spcPts val="1000"/>
              </a:spcAft>
              <a:defRPr sz="1500">
                <a:solidFill>
                  <a:srgbClr val="202833"/>
                </a:solidFill>
              </a:defRPr>
            </a:pPr>
            <a:r>
              <a:t>• The return-rate visual compares returned orders across product categories.</a:t>
            </a:r>
          </a:p>
          <a:p>
            <a:pPr>
              <a:spcAft>
                <a:spcPts val="1000"/>
              </a:spcAft>
              <a:defRPr sz="1500">
                <a:solidFill>
                  <a:srgbClr val="202833"/>
                </a:solidFill>
              </a:defRPr>
            </a:pPr>
            <a:r>
              <a:t>• The time hierarchy allows return behaviour to be examined by year and month.</a:t>
            </a:r>
          </a:p>
          <a:p>
            <a:pPr>
              <a:spcAft>
                <a:spcPts val="1000"/>
              </a:spcAft>
              <a:defRPr sz="1500">
                <a:solidFill>
                  <a:srgbClr val="202833"/>
                </a:solidFill>
              </a:defRPr>
            </a:pPr>
            <a:r>
              <a:t>• This can help identify categories or periods that require further investigation.</a:t>
            </a:r>
          </a:p>
        </p:txBody>
      </p:sp>
      <p:sp>
        <p:nvSpPr>
          <p:cNvPr id="6" name="TextBox 5"/>
          <p:cNvSpPr txBox="1"/>
          <p:nvPr/>
        </p:nvSpPr>
        <p:spPr>
          <a:xfrm>
            <a:off x="640080" y="1440180"/>
            <a:ext cx="5212080" cy="457200"/>
          </a:xfrm>
          <a:prstGeom prst="rect">
            <a:avLst/>
          </a:prstGeom>
          <a:noFill/>
        </p:spPr>
        <p:txBody>
          <a:bodyPr wrap="square">
            <a:spAutoFit/>
          </a:bodyPr>
          <a:lstStyle/>
          <a:p>
            <a:pPr algn="l">
              <a:defRPr sz="2200" b="1">
                <a:solidFill>
                  <a:srgbClr val="162239"/>
                </a:solidFill>
              </a:defRPr>
            </a:pPr>
            <a:r>
              <a:t>Return analysis</a:t>
            </a:r>
          </a:p>
        </p:txBody>
      </p:sp>
      <p:sp>
        <p:nvSpPr>
          <p:cNvPr id="8" name="TextBox 7"/>
          <p:cNvSpPr txBox="1"/>
          <p:nvPr/>
        </p:nvSpPr>
        <p:spPr>
          <a:xfrm>
            <a:off x="6217920" y="1440180"/>
            <a:ext cx="5212080" cy="457200"/>
          </a:xfrm>
          <a:prstGeom prst="rect">
            <a:avLst/>
          </a:prstGeom>
          <a:noFill/>
        </p:spPr>
        <p:txBody>
          <a:bodyPr wrap="square">
            <a:spAutoFit/>
          </a:bodyPr>
          <a:lstStyle/>
          <a:p>
            <a:pPr algn="l">
              <a:defRPr sz="2200" b="1">
                <a:solidFill>
                  <a:srgbClr val="162239"/>
                </a:solidFill>
              </a:defRPr>
            </a:pPr>
            <a:r>
              <a:t>Marketing performance</a:t>
            </a:r>
          </a:p>
        </p:txBody>
      </p:sp>
      <p:sp>
        <p:nvSpPr>
          <p:cNvPr id="9" name="TextBox 8"/>
          <p:cNvSpPr txBox="1"/>
          <p:nvPr/>
        </p:nvSpPr>
        <p:spPr>
          <a:xfrm>
            <a:off x="6263640" y="1897380"/>
            <a:ext cx="5074920" cy="2103120"/>
          </a:xfrm>
          <a:prstGeom prst="rect">
            <a:avLst/>
          </a:prstGeom>
          <a:noFill/>
        </p:spPr>
        <p:txBody>
          <a:bodyPr wrap="square">
            <a:spAutoFit/>
          </a:bodyPr>
          <a:lstStyle/>
          <a:p>
            <a:pPr>
              <a:spcAft>
                <a:spcPts val="1000"/>
              </a:spcAft>
              <a:defRPr sz="1500">
                <a:solidFill>
                  <a:srgbClr val="202833"/>
                </a:solidFill>
              </a:defRPr>
            </a:pPr>
            <a:r>
              <a:t>• Traffic source is linked with revenue to understand where sales originate.</a:t>
            </a:r>
          </a:p>
          <a:p>
            <a:pPr>
              <a:spcAft>
                <a:spcPts val="1000"/>
              </a:spcAft>
              <a:defRPr sz="1500">
                <a:solidFill>
                  <a:srgbClr val="202833"/>
                </a:solidFill>
              </a:defRPr>
            </a:pPr>
            <a:r>
              <a:t>• Comparing traffic sources provides a view of marketing channel contribution.</a:t>
            </a:r>
          </a:p>
          <a:p>
            <a:pPr>
              <a:spcAft>
                <a:spcPts val="1000"/>
              </a:spcAft>
              <a:defRPr sz="1500">
                <a:solidFill>
                  <a:srgbClr val="202833"/>
                </a:solidFill>
              </a:defRPr>
            </a:pPr>
            <a:r>
              <a:t>• The analysis can support future campaign and channel evaluation.</a:t>
            </a:r>
          </a:p>
        </p:txBody>
      </p:sp>
      <p:sp>
        <p:nvSpPr>
          <p:cNvPr id="3" name="Freeform 2"/>
          <p:cNvSpPr/>
          <p:nvPr/>
        </p:nvSpPr>
        <p:spPr>
          <a:xfrm>
            <a:off x="640080" y="3865245"/>
            <a:ext cx="5207635" cy="2302510"/>
          </a:xfrm>
          <a:custGeom>
            <a:avLst/>
            <a:gdLst>
              <a:gd name="connsiteX0" fmla="*/ 12 w 7956"/>
              <a:gd name="connsiteY0" fmla="*/ 578 h 6915"/>
              <a:gd name="connsiteX1" fmla="*/ 1164 w 7956"/>
              <a:gd name="connsiteY1" fmla="*/ 2 h 6915"/>
              <a:gd name="connsiteX2" fmla="*/ 6780 w 7956"/>
              <a:gd name="connsiteY2" fmla="*/ 2 h 6915"/>
              <a:gd name="connsiteX3" fmla="*/ 7956 w 7956"/>
              <a:gd name="connsiteY3" fmla="*/ 602 h 6915"/>
              <a:gd name="connsiteX4" fmla="*/ 7908 w 7956"/>
              <a:gd name="connsiteY4" fmla="*/ 6277 h 6915"/>
              <a:gd name="connsiteX5" fmla="*/ 6780 w 7956"/>
              <a:gd name="connsiteY5" fmla="*/ 6914 h 6915"/>
              <a:gd name="connsiteX6" fmla="*/ 1164 w 7956"/>
              <a:gd name="connsiteY6" fmla="*/ 6914 h 6915"/>
              <a:gd name="connsiteX7" fmla="*/ 0 w 7956"/>
              <a:gd name="connsiteY7" fmla="*/ 6350 h 6915"/>
              <a:gd name="connsiteX8" fmla="*/ 12 w 7956"/>
              <a:gd name="connsiteY8" fmla="*/ 578 h 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 h="6916">
                <a:moveTo>
                  <a:pt x="12" y="578"/>
                </a:moveTo>
                <a:cubicBezTo>
                  <a:pt x="12" y="-58"/>
                  <a:pt x="528" y="2"/>
                  <a:pt x="1164" y="2"/>
                </a:cubicBezTo>
                <a:lnTo>
                  <a:pt x="6780" y="2"/>
                </a:lnTo>
                <a:cubicBezTo>
                  <a:pt x="7416" y="2"/>
                  <a:pt x="7956" y="-34"/>
                  <a:pt x="7956" y="602"/>
                </a:cubicBezTo>
                <a:lnTo>
                  <a:pt x="7908" y="6277"/>
                </a:lnTo>
                <a:cubicBezTo>
                  <a:pt x="7908" y="6913"/>
                  <a:pt x="7416" y="6914"/>
                  <a:pt x="6780" y="6914"/>
                </a:cubicBezTo>
                <a:lnTo>
                  <a:pt x="1164" y="6914"/>
                </a:lnTo>
                <a:cubicBezTo>
                  <a:pt x="528" y="6914"/>
                  <a:pt x="0" y="6986"/>
                  <a:pt x="0" y="6350"/>
                </a:cubicBezTo>
                <a:lnTo>
                  <a:pt x="12" y="578"/>
                </a:lnTo>
                <a:close/>
              </a:path>
            </a:pathLst>
          </a:custGeom>
          <a:blipFill rotWithShape="1">
            <a:blip r:embed="rId2"/>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6222365" y="3865245"/>
            <a:ext cx="3538855" cy="2278380"/>
          </a:xfrm>
          <a:custGeom>
            <a:avLst/>
            <a:gdLst>
              <a:gd name="connsiteX0" fmla="*/ 12 w 7956"/>
              <a:gd name="connsiteY0" fmla="*/ 578 h 6915"/>
              <a:gd name="connsiteX1" fmla="*/ 1164 w 7956"/>
              <a:gd name="connsiteY1" fmla="*/ 2 h 6915"/>
              <a:gd name="connsiteX2" fmla="*/ 6780 w 7956"/>
              <a:gd name="connsiteY2" fmla="*/ 2 h 6915"/>
              <a:gd name="connsiteX3" fmla="*/ 7956 w 7956"/>
              <a:gd name="connsiteY3" fmla="*/ 602 h 6915"/>
              <a:gd name="connsiteX4" fmla="*/ 7908 w 7956"/>
              <a:gd name="connsiteY4" fmla="*/ 6277 h 6915"/>
              <a:gd name="connsiteX5" fmla="*/ 6780 w 7956"/>
              <a:gd name="connsiteY5" fmla="*/ 6914 h 6915"/>
              <a:gd name="connsiteX6" fmla="*/ 1164 w 7956"/>
              <a:gd name="connsiteY6" fmla="*/ 6914 h 6915"/>
              <a:gd name="connsiteX7" fmla="*/ 0 w 7956"/>
              <a:gd name="connsiteY7" fmla="*/ 6350 h 6915"/>
              <a:gd name="connsiteX8" fmla="*/ 12 w 7956"/>
              <a:gd name="connsiteY8" fmla="*/ 578 h 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 h="6916">
                <a:moveTo>
                  <a:pt x="12" y="578"/>
                </a:moveTo>
                <a:cubicBezTo>
                  <a:pt x="12" y="-58"/>
                  <a:pt x="528" y="2"/>
                  <a:pt x="1164" y="2"/>
                </a:cubicBezTo>
                <a:lnTo>
                  <a:pt x="6780" y="2"/>
                </a:lnTo>
                <a:cubicBezTo>
                  <a:pt x="7416" y="2"/>
                  <a:pt x="7956" y="-34"/>
                  <a:pt x="7956" y="602"/>
                </a:cubicBezTo>
                <a:lnTo>
                  <a:pt x="7908" y="6277"/>
                </a:lnTo>
                <a:cubicBezTo>
                  <a:pt x="7908" y="6913"/>
                  <a:pt x="7416" y="6914"/>
                  <a:pt x="6780" y="6914"/>
                </a:cubicBezTo>
                <a:lnTo>
                  <a:pt x="1164" y="6914"/>
                </a:lnTo>
                <a:cubicBezTo>
                  <a:pt x="528" y="6914"/>
                  <a:pt x="0" y="6986"/>
                  <a:pt x="0" y="6350"/>
                </a:cubicBezTo>
                <a:lnTo>
                  <a:pt x="12" y="578"/>
                </a:lnTo>
                <a:close/>
              </a:path>
            </a:pathLst>
          </a:custGeom>
          <a:blipFill rotWithShape="1">
            <a:blip r:embed="rId3"/>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305" y="735584"/>
            <a:ext cx="2372995" cy="521970"/>
          </a:xfrm>
          <a:prstGeom prst="rect">
            <a:avLst/>
          </a:prstGeom>
          <a:noFill/>
        </p:spPr>
        <p:txBody>
          <a:bodyPr wrap="none">
            <a:spAutoFit/>
          </a:bodyPr>
          <a:lstStyle/>
          <a:p>
            <a:pPr algn="l">
              <a:defRPr sz="2500" b="1">
                <a:solidFill>
                  <a:srgbClr val="FFFFFF"/>
                </a:solidFill>
              </a:defRPr>
            </a:pPr>
            <a:r>
              <a:rPr lang="en-US" sz="2800">
                <a:solidFill>
                  <a:schemeClr val="tx2">
                    <a:lumMod val="50000"/>
                  </a:schemeClr>
                </a:solidFill>
                <a:sym typeface="+mn-ea"/>
              </a:rPr>
              <a:t>9</a:t>
            </a:r>
            <a:r>
              <a:rPr sz="2800">
                <a:solidFill>
                  <a:schemeClr val="tx2">
                    <a:lumMod val="50000"/>
                  </a:schemeClr>
                </a:solidFill>
                <a:sym typeface="+mn-ea"/>
              </a:rPr>
              <a:t>. Key Findings</a:t>
            </a:r>
            <a:endParaRPr sz="2800">
              <a:solidFill>
                <a:schemeClr val="tx2">
                  <a:lumMod val="50000"/>
                </a:schemeClr>
              </a:solidFill>
              <a:sym typeface="+mn-ea"/>
            </a:endParaRPr>
          </a:p>
        </p:txBody>
      </p:sp>
      <p:sp>
        <p:nvSpPr>
          <p:cNvPr id="22" name="TextBox 21"/>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6</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4" name="Picture 33"/>
          <p:cNvPicPr>
            <a:picLocks noChangeAspect="1"/>
          </p:cNvPicPr>
          <p:nvPr/>
        </p:nvPicPr>
        <p:blipFill>
          <a:blip r:embed="rId1"/>
          <a:stretch>
            <a:fillRect/>
          </a:stretch>
        </p:blipFill>
        <p:spPr>
          <a:xfrm>
            <a:off x="10867390" y="146050"/>
            <a:ext cx="1188720" cy="396240"/>
          </a:xfrm>
          <a:prstGeom prst="rect">
            <a:avLst/>
          </a:prstGeom>
        </p:spPr>
      </p:pic>
      <p:sp>
        <p:nvSpPr>
          <p:cNvPr id="11" name="TextBox 6"/>
          <p:cNvSpPr txBox="1"/>
          <p:nvPr/>
        </p:nvSpPr>
        <p:spPr>
          <a:xfrm>
            <a:off x="769620" y="1592580"/>
            <a:ext cx="10568940" cy="4403090"/>
          </a:xfrm>
          <a:prstGeom prst="roundRect">
            <a:avLst/>
          </a:prstGeom>
          <a:solidFill>
            <a:schemeClr val="bg1">
              <a:alpha val="90000"/>
            </a:schemeClr>
          </a:solidFill>
          <a:ln>
            <a:solidFill>
              <a:schemeClr val="accent1"/>
            </a:solidFill>
          </a:ln>
        </p:spPr>
        <p:txBody>
          <a:bodyPr wrap="square">
            <a:noAutofit/>
          </a:bodyPr>
          <a:lstStyle/>
          <a:p>
            <a:pPr>
              <a:spcAft>
                <a:spcPts val="1000"/>
              </a:spcAft>
              <a:defRPr sz="1600">
                <a:solidFill>
                  <a:srgbClr val="202833"/>
                </a:solidFill>
              </a:defRPr>
            </a:pPr>
            <a:r>
              <a:t>.</a:t>
            </a:r>
          </a:p>
        </p:txBody>
      </p:sp>
      <p:sp>
        <p:nvSpPr>
          <p:cNvPr id="12" name="TextBox 5"/>
          <p:cNvSpPr txBox="1"/>
          <p:nvPr/>
        </p:nvSpPr>
        <p:spPr>
          <a:xfrm>
            <a:off x="1111885" y="2159000"/>
            <a:ext cx="9968230" cy="3270250"/>
          </a:xfrm>
          <a:prstGeom prst="rect">
            <a:avLst/>
          </a:prstGeom>
          <a:noFill/>
        </p:spPr>
        <p:txBody>
          <a:bodyPr wrap="square">
            <a:noAutofit/>
          </a:bodyPr>
          <a:lstStyle/>
          <a:p>
            <a:pPr>
              <a:spcAft>
                <a:spcPts val="1000"/>
              </a:spcAft>
              <a:defRPr sz="1700">
                <a:solidFill>
                  <a:srgbClr val="202833"/>
                </a:solidFill>
              </a:defRPr>
            </a:pPr>
            <a:r>
              <a:t>• Sales performance can be monitored from a single dashboard using multiple financial and operational KPIs.</a:t>
            </a:r>
          </a:p>
          <a:p>
            <a:pPr>
              <a:spcAft>
                <a:spcPts val="1000"/>
              </a:spcAft>
              <a:defRPr sz="1700">
                <a:solidFill>
                  <a:srgbClr val="202833"/>
                </a:solidFill>
              </a:defRPr>
            </a:pPr>
            <a:r>
              <a:t>• Product categories can show different patterns in sales quantity, revenue and profitability.</a:t>
            </a:r>
          </a:p>
          <a:p>
            <a:pPr>
              <a:spcAft>
                <a:spcPts val="1000"/>
              </a:spcAft>
              <a:defRPr sz="1700">
                <a:solidFill>
                  <a:srgbClr val="202833"/>
                </a:solidFill>
              </a:defRPr>
            </a:pPr>
            <a:r>
              <a:t>• Customer geography provides a clear way to compare activity across countries.</a:t>
            </a:r>
          </a:p>
          <a:p>
            <a:pPr>
              <a:spcAft>
                <a:spcPts val="1000"/>
              </a:spcAft>
              <a:defRPr sz="1700">
                <a:solidFill>
                  <a:srgbClr val="202833"/>
                </a:solidFill>
              </a:defRPr>
            </a:pPr>
            <a:r>
              <a:t>• Payment-method analysis helps describe how customers complete purchases.</a:t>
            </a:r>
          </a:p>
          <a:p>
            <a:pPr>
              <a:spcAft>
                <a:spcPts val="1000"/>
              </a:spcAft>
              <a:defRPr sz="1700">
                <a:solidFill>
                  <a:srgbClr val="202833"/>
                </a:solidFill>
              </a:defRPr>
            </a:pPr>
            <a:r>
              <a:t>• Return analysis adds an operational perspective by connecting product categories with returned orders over time.</a:t>
            </a:r>
          </a:p>
          <a:p>
            <a:pPr>
              <a:spcAft>
                <a:spcPts val="1000"/>
              </a:spcAft>
              <a:defRPr sz="1700">
                <a:solidFill>
                  <a:srgbClr val="202833"/>
                </a:solidFill>
              </a:defRPr>
            </a:pPr>
            <a:r>
              <a:t>• Traffic-source analysis connects marketing channels with revenue generation.</a:t>
            </a:r>
          </a:p>
          <a:p>
            <a:pPr>
              <a:spcAft>
                <a:spcPts val="1000"/>
              </a:spcAft>
              <a:defRPr sz="1700">
                <a:solidFill>
                  <a:srgbClr val="202833"/>
                </a:solidFill>
              </a:defRPr>
            </a:pPr>
            <a:r>
              <a:t>• Interactive slicers make it possible to investigate these patterns for selected categories, countries and time periods.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305" y="735584"/>
            <a:ext cx="2328545" cy="521970"/>
          </a:xfrm>
          <a:prstGeom prst="rect">
            <a:avLst/>
          </a:prstGeom>
          <a:noFill/>
        </p:spPr>
        <p:txBody>
          <a:bodyPr wrap="none">
            <a:spAutoFit/>
          </a:bodyPr>
          <a:lstStyle/>
          <a:p>
            <a:pPr algn="l">
              <a:defRPr sz="3200" b="1">
                <a:solidFill>
                  <a:srgbClr val="FFFFFF"/>
                </a:solidFill>
              </a:defRPr>
            </a:pPr>
            <a:r>
              <a:rPr lang="en-US" sz="2800">
                <a:solidFill>
                  <a:schemeClr val="tx2">
                    <a:lumMod val="50000"/>
                  </a:schemeClr>
                </a:solidFill>
                <a:sym typeface="+mn-ea"/>
              </a:rPr>
              <a:t>10</a:t>
            </a:r>
            <a:r>
              <a:rPr sz="2800">
                <a:solidFill>
                  <a:schemeClr val="tx2">
                    <a:lumMod val="50000"/>
                  </a:schemeClr>
                </a:solidFill>
                <a:sym typeface="+mn-ea"/>
              </a:rPr>
              <a:t>. </a:t>
            </a:r>
            <a:r>
              <a:rPr sz="2800">
                <a:solidFill>
                  <a:schemeClr val="tx2">
                    <a:lumMod val="50000"/>
                  </a:schemeClr>
                </a:solidFill>
                <a:sym typeface="+mn-ea"/>
              </a:rPr>
              <a:t>Conclusion</a:t>
            </a:r>
            <a:endParaRPr sz="2800">
              <a:solidFill>
                <a:schemeClr val="tx2">
                  <a:lumMod val="50000"/>
                </a:schemeClr>
              </a:solidFill>
              <a:sym typeface="+mn-ea"/>
            </a:endParaRPr>
          </a:p>
        </p:txBody>
      </p:sp>
      <p:sp>
        <p:nvSpPr>
          <p:cNvPr id="22" name="TextBox 21"/>
          <p:cNvSpPr txBox="1"/>
          <p:nvPr/>
        </p:nvSpPr>
        <p:spPr>
          <a:xfrm>
            <a:off x="10972800" y="6510528"/>
            <a:ext cx="640080" cy="182880"/>
          </a:xfrm>
          <a:prstGeom prst="rect">
            <a:avLst/>
          </a:prstGeom>
          <a:noFill/>
        </p:spPr>
        <p:txBody>
          <a:bodyPr wrap="square">
            <a:spAutoFit/>
          </a:bodyPr>
          <a:lstStyle/>
          <a:p>
            <a:pPr algn="r">
              <a:defRPr sz="900" b="0">
                <a:solidFill>
                  <a:srgbClr val="697484"/>
                </a:solidFill>
              </a:defRPr>
            </a:pPr>
            <a:r>
              <a:t>6</a:t>
            </a:r>
          </a:p>
        </p:txBody>
      </p:sp>
      <p:sp>
        <p:nvSpPr>
          <p:cNvPr id="2" name="Flowchart: Alternate Process 1"/>
          <p:cNvSpPr/>
          <p:nvPr/>
        </p:nvSpPr>
        <p:spPr>
          <a:xfrm>
            <a:off x="10814050" y="90805"/>
            <a:ext cx="1295400" cy="506730"/>
          </a:xfrm>
          <a:prstGeom prst="flowChartAlternateProcess">
            <a:avLst/>
          </a:prstGeom>
          <a:solidFill>
            <a:schemeClr val="accent1">
              <a:alpha val="75000"/>
            </a:schemeClr>
          </a:solidFill>
        </p:spPr>
        <p:style>
          <a:lnRef idx="0">
            <a:srgbClr val="FFFFFF"/>
          </a:lnRef>
          <a:fillRef idx="1">
            <a:schemeClr val="accent1"/>
          </a:fillRef>
          <a:effectRef idx="0">
            <a:srgbClr val="FFFFFF"/>
          </a:effectRef>
          <a:fontRef idx="minor">
            <a:schemeClr val="lt1"/>
          </a:fontRef>
        </p:style>
        <p:txBody>
          <a:bodyPr/>
          <a:p>
            <a:endParaRPr lang="en-US"/>
          </a:p>
        </p:txBody>
      </p:sp>
      <p:pic>
        <p:nvPicPr>
          <p:cNvPr id="34" name="Picture 33"/>
          <p:cNvPicPr>
            <a:picLocks noChangeAspect="1"/>
          </p:cNvPicPr>
          <p:nvPr/>
        </p:nvPicPr>
        <p:blipFill>
          <a:blip r:embed="rId1"/>
          <a:stretch>
            <a:fillRect/>
          </a:stretch>
        </p:blipFill>
        <p:spPr>
          <a:xfrm>
            <a:off x="10867390" y="146050"/>
            <a:ext cx="1188720" cy="396240"/>
          </a:xfrm>
          <a:prstGeom prst="rect">
            <a:avLst/>
          </a:prstGeom>
        </p:spPr>
      </p:pic>
      <p:sp>
        <p:nvSpPr>
          <p:cNvPr id="3" name="TextBox 3"/>
          <p:cNvSpPr txBox="1"/>
          <p:nvPr/>
        </p:nvSpPr>
        <p:spPr>
          <a:xfrm>
            <a:off x="1097280" y="1631315"/>
            <a:ext cx="9966960" cy="1920240"/>
          </a:xfrm>
          <a:prstGeom prst="rect">
            <a:avLst/>
          </a:prstGeom>
          <a:noFill/>
        </p:spPr>
        <p:txBody>
          <a:bodyPr wrap="square">
            <a:spAutoFit/>
          </a:bodyPr>
          <a:lstStyle/>
          <a:p>
            <a:pPr algn="ctr">
              <a:defRPr sz="2100" b="0">
                <a:solidFill>
                  <a:srgbClr val="E1E7F0"/>
                </a:solidFill>
              </a:defRPr>
            </a:pPr>
            <a:r>
              <a:rPr>
                <a:solidFill>
                  <a:schemeClr val="tx1"/>
                </a:solidFill>
              </a:rPr>
              <a:t>The E-commerce Customer Analytics dashboard brings together sales, product, customer, payment, return and marketing information in one interactive view. Power BI makes it easier to explore patterns and compare performance across categories, countries and time periods.</a:t>
            </a:r>
            <a:endParaRPr>
              <a:solidFill>
                <a:schemeClr val="tx1"/>
              </a:solidFill>
            </a:endParaRPr>
          </a:p>
        </p:txBody>
      </p:sp>
      <p:sp>
        <p:nvSpPr>
          <p:cNvPr id="5" name="Rounded Rectangle 4"/>
          <p:cNvSpPr/>
          <p:nvPr/>
        </p:nvSpPr>
        <p:spPr>
          <a:xfrm>
            <a:off x="1828800" y="4054475"/>
            <a:ext cx="2331720" cy="960120"/>
          </a:xfrm>
          <a:prstGeom prst="roundRect">
            <a:avLst/>
          </a:prstGeom>
          <a:solidFill>
            <a:srgbClr val="FFFFFF"/>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29968" y="4219067"/>
            <a:ext cx="1965960" cy="320040"/>
          </a:xfrm>
          <a:prstGeom prst="rect">
            <a:avLst/>
          </a:prstGeom>
          <a:noFill/>
        </p:spPr>
        <p:txBody>
          <a:bodyPr wrap="square">
            <a:spAutoFit/>
          </a:bodyPr>
          <a:lstStyle/>
          <a:p>
            <a:pPr algn="ctr">
              <a:defRPr sz="1200" b="1">
                <a:solidFill>
                  <a:srgbClr val="697484"/>
                </a:solidFill>
              </a:defRPr>
            </a:pPr>
            <a:r>
              <a:rPr>
                <a:solidFill>
                  <a:schemeClr val="tx2">
                    <a:lumMod val="75000"/>
                  </a:schemeClr>
                </a:solidFill>
              </a:rPr>
              <a:t>NEXT STEP</a:t>
            </a:r>
            <a:endParaRPr>
              <a:solidFill>
                <a:schemeClr val="tx2">
                  <a:lumMod val="75000"/>
                </a:schemeClr>
              </a:solidFill>
            </a:endParaRPr>
          </a:p>
        </p:txBody>
      </p:sp>
      <p:sp>
        <p:nvSpPr>
          <p:cNvPr id="8" name="TextBox 7"/>
          <p:cNvSpPr txBox="1"/>
          <p:nvPr/>
        </p:nvSpPr>
        <p:spPr>
          <a:xfrm>
            <a:off x="2030095" y="4504055"/>
            <a:ext cx="1965960" cy="320040"/>
          </a:xfrm>
          <a:prstGeom prst="rect">
            <a:avLst/>
          </a:prstGeom>
          <a:noFill/>
        </p:spPr>
        <p:txBody>
          <a:bodyPr wrap="square">
            <a:noAutofit/>
          </a:bodyPr>
          <a:lstStyle/>
          <a:p>
            <a:pPr algn="ctr">
              <a:defRPr sz="2500" b="1">
                <a:solidFill>
                  <a:srgbClr val="162239"/>
                </a:solidFill>
              </a:defRPr>
            </a:pPr>
            <a:r>
              <a:rPr sz="2000">
                <a:solidFill>
                  <a:schemeClr val="tx1"/>
                </a:solidFill>
              </a:rPr>
              <a:t>Validate </a:t>
            </a:r>
            <a:r>
              <a:rPr lang="en-US" sz="2000">
                <a:solidFill>
                  <a:schemeClr val="tx1"/>
                </a:solidFill>
              </a:rPr>
              <a:t>I</a:t>
            </a:r>
            <a:r>
              <a:rPr sz="2000">
                <a:solidFill>
                  <a:schemeClr val="tx1"/>
                </a:solidFill>
              </a:rPr>
              <a:t>nsights</a:t>
            </a:r>
            <a:endParaRPr sz="2000">
              <a:solidFill>
                <a:schemeClr val="tx1"/>
              </a:solidFill>
            </a:endParaRPr>
          </a:p>
        </p:txBody>
      </p:sp>
      <p:sp>
        <p:nvSpPr>
          <p:cNvPr id="9" name="Rounded Rectangle 8"/>
          <p:cNvSpPr/>
          <p:nvPr/>
        </p:nvSpPr>
        <p:spPr>
          <a:xfrm>
            <a:off x="4937760" y="4054475"/>
            <a:ext cx="2331720" cy="960120"/>
          </a:xfrm>
          <a:prstGeom prst="roundRect">
            <a:avLst/>
          </a:prstGeom>
          <a:solidFill>
            <a:srgbClr val="FFFFFF"/>
          </a:solidFill>
          <a:ln>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10"/>
          <p:cNvSpPr txBox="1"/>
          <p:nvPr/>
        </p:nvSpPr>
        <p:spPr>
          <a:xfrm>
            <a:off x="5138928" y="4219067"/>
            <a:ext cx="1965960" cy="320040"/>
          </a:xfrm>
          <a:prstGeom prst="rect">
            <a:avLst/>
          </a:prstGeom>
          <a:noFill/>
        </p:spPr>
        <p:txBody>
          <a:bodyPr wrap="square">
            <a:spAutoFit/>
          </a:bodyPr>
          <a:lstStyle/>
          <a:p>
            <a:pPr algn="ctr">
              <a:defRPr sz="1200" b="1">
                <a:solidFill>
                  <a:srgbClr val="697484"/>
                </a:solidFill>
              </a:defRPr>
            </a:pPr>
            <a:r>
              <a:rPr>
                <a:solidFill>
                  <a:schemeClr val="accent2">
                    <a:lumMod val="75000"/>
                  </a:schemeClr>
                </a:solidFill>
              </a:rPr>
              <a:t>NEXT STEP</a:t>
            </a:r>
            <a:endParaRPr>
              <a:solidFill>
                <a:schemeClr val="accent2">
                  <a:lumMod val="75000"/>
                </a:schemeClr>
              </a:solidFill>
            </a:endParaRPr>
          </a:p>
        </p:txBody>
      </p:sp>
      <p:sp>
        <p:nvSpPr>
          <p:cNvPr id="10" name="TextBox 11"/>
          <p:cNvSpPr txBox="1"/>
          <p:nvPr/>
        </p:nvSpPr>
        <p:spPr>
          <a:xfrm>
            <a:off x="5138928" y="4503928"/>
            <a:ext cx="1965960" cy="398780"/>
          </a:xfrm>
          <a:prstGeom prst="rect">
            <a:avLst/>
          </a:prstGeom>
          <a:noFill/>
        </p:spPr>
        <p:txBody>
          <a:bodyPr wrap="square">
            <a:spAutoFit/>
          </a:bodyPr>
          <a:lstStyle/>
          <a:p>
            <a:pPr algn="ctr">
              <a:defRPr sz="2500" b="1">
                <a:solidFill>
                  <a:srgbClr val="162239"/>
                </a:solidFill>
              </a:defRPr>
            </a:pPr>
            <a:r>
              <a:rPr sz="2000"/>
              <a:t>Track KPIs</a:t>
            </a:r>
            <a:endParaRPr sz="2000"/>
          </a:p>
        </p:txBody>
      </p:sp>
      <p:sp>
        <p:nvSpPr>
          <p:cNvPr id="13" name="Rounded Rectangle 12"/>
          <p:cNvSpPr/>
          <p:nvPr/>
        </p:nvSpPr>
        <p:spPr>
          <a:xfrm>
            <a:off x="8046720" y="4054475"/>
            <a:ext cx="2331720" cy="960120"/>
          </a:xfrm>
          <a:prstGeom prst="roundRect">
            <a:avLst/>
          </a:prstGeom>
          <a:solidFill>
            <a:srgbClr val="FFFFFF"/>
          </a:solidFill>
          <a:ln>
            <a:solidFill>
              <a:schemeClr val="accent3">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4219067"/>
            <a:ext cx="1965960" cy="320040"/>
          </a:xfrm>
          <a:prstGeom prst="rect">
            <a:avLst/>
          </a:prstGeom>
          <a:noFill/>
        </p:spPr>
        <p:txBody>
          <a:bodyPr wrap="square">
            <a:spAutoFit/>
          </a:bodyPr>
          <a:lstStyle/>
          <a:p>
            <a:pPr algn="ctr">
              <a:defRPr sz="1200" b="1">
                <a:solidFill>
                  <a:srgbClr val="697484"/>
                </a:solidFill>
              </a:defRPr>
            </a:pPr>
            <a:r>
              <a:rPr>
                <a:solidFill>
                  <a:schemeClr val="accent3">
                    <a:lumMod val="75000"/>
                  </a:schemeClr>
                </a:solidFill>
              </a:rPr>
              <a:t>NEXT STEP</a:t>
            </a:r>
            <a:endParaRPr>
              <a:solidFill>
                <a:schemeClr val="accent3">
                  <a:lumMod val="75000"/>
                </a:schemeClr>
              </a:solidFill>
            </a:endParaRPr>
          </a:p>
        </p:txBody>
      </p:sp>
      <p:sp>
        <p:nvSpPr>
          <p:cNvPr id="16" name="TextBox 15"/>
          <p:cNvSpPr txBox="1"/>
          <p:nvPr/>
        </p:nvSpPr>
        <p:spPr>
          <a:xfrm>
            <a:off x="8190865" y="4504055"/>
            <a:ext cx="2059940" cy="398780"/>
          </a:xfrm>
          <a:prstGeom prst="rect">
            <a:avLst/>
          </a:prstGeom>
          <a:noFill/>
        </p:spPr>
        <p:txBody>
          <a:bodyPr wrap="square">
            <a:spAutoFit/>
          </a:bodyPr>
          <a:lstStyle/>
          <a:p>
            <a:pPr algn="ctr">
              <a:defRPr sz="2500" b="1">
                <a:solidFill>
                  <a:srgbClr val="162239"/>
                </a:solidFill>
              </a:defRPr>
            </a:pPr>
            <a:r>
              <a:rPr sz="2000">
                <a:solidFill>
                  <a:schemeClr val="tx1"/>
                </a:solidFill>
              </a:rPr>
              <a:t>Improve </a:t>
            </a:r>
            <a:r>
              <a:rPr lang="en-US" sz="2000">
                <a:solidFill>
                  <a:schemeClr val="tx1"/>
                </a:solidFill>
              </a:rPr>
              <a:t>A</a:t>
            </a:r>
            <a:r>
              <a:rPr sz="2000">
                <a:solidFill>
                  <a:schemeClr val="tx1"/>
                </a:solidFill>
              </a:rPr>
              <a:t>nalysis</a:t>
            </a:r>
            <a:endParaRPr sz="2000">
              <a:solidFill>
                <a:schemeClr val="tx1"/>
              </a:solidFill>
            </a:endParaRPr>
          </a:p>
        </p:txBody>
      </p:sp>
      <p:sp>
        <p:nvSpPr>
          <p:cNvPr id="40" name="Rounded Rectangle 39"/>
          <p:cNvSpPr/>
          <p:nvPr/>
        </p:nvSpPr>
        <p:spPr>
          <a:xfrm>
            <a:off x="1097280" y="5517515"/>
            <a:ext cx="9966960" cy="594360"/>
          </a:xfrm>
          <a:prstGeom prst="roundRect">
            <a:avLst/>
          </a:prstGeom>
          <a:solidFill>
            <a:srgbClr val="FFFFFF"/>
          </a:solidFill>
          <a:ln>
            <a:solidFill>
              <a:srgbClr val="2D5E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altLang="en-US" sz="1600" b="1" dirty="0">
                <a:solidFill>
                  <a:schemeClr val="tx1"/>
                </a:solidFill>
                <a:sym typeface="+mn-ea"/>
              </a:rPr>
              <a:t>Project by Farhana Sultana, Rabin Das &amp; Sanju Jana - </a:t>
            </a:r>
            <a:r>
              <a:rPr lang="en-US" altLang="en-IN" sz="1600" b="1" dirty="0">
                <a:solidFill>
                  <a:schemeClr val="tx1"/>
                </a:solidFill>
                <a:sym typeface="+mn-ea"/>
              </a:rPr>
              <a:t>Power BI</a:t>
            </a:r>
            <a:r>
              <a:rPr lang="en-IN" altLang="en-US" sz="1600" b="1" dirty="0">
                <a:solidFill>
                  <a:schemeClr val="tx1"/>
                </a:solidFill>
                <a:sym typeface="+mn-ea"/>
              </a:rPr>
              <a:t> Final Project |</a:t>
            </a:r>
            <a:r>
              <a:rPr sz="1600" b="1">
                <a:solidFill>
                  <a:schemeClr val="tx1"/>
                </a:solidFill>
                <a:sym typeface="+mn-ea"/>
              </a:rPr>
              <a:t>E-commerce Customer Analytics</a:t>
            </a:r>
            <a:endParaRPr lang="en-IN" altLang="en-US" sz="1600" b="1" dirty="0">
              <a:solidFill>
                <a:schemeClr val="tx1"/>
              </a:solidFill>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4039</Words>
  <Application>WPS Presentation</Application>
  <PresentationFormat>Widescreen</PresentationFormat>
  <Paragraphs>229</Paragraphs>
  <Slides>11</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Sanju Jana</cp:lastModifiedBy>
  <cp:revision>5</cp:revision>
  <dcterms:created xsi:type="dcterms:W3CDTF">2013-01-27T09:14:00Z</dcterms:created>
  <dcterms:modified xsi:type="dcterms:W3CDTF">2026-09-20T16:01:18Z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2B7543702C254F8BBAD4A67C7D0708DB_13</vt:lpwstr>
  </property>
</Properties>
</file>